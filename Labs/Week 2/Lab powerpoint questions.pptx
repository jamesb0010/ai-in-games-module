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8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9" r:id="rId17"/>
    <p:sldId id="370" r:id="rId18"/>
    <p:sldId id="371" r:id="rId19"/>
    <p:sldId id="372" r:id="rId20"/>
    <p:sldId id="374" r:id="rId21"/>
    <p:sldId id="375" r:id="rId22"/>
    <p:sldId id="376" r:id="rId23"/>
    <p:sldId id="377" r:id="rId24"/>
    <p:sldId id="378" r:id="rId25"/>
    <p:sldId id="379" r:id="rId26"/>
    <p:sldId id="381" r:id="rId27"/>
    <p:sldId id="382" r:id="rId28"/>
    <p:sldId id="383" r:id="rId29"/>
    <p:sldId id="384" r:id="rId30"/>
    <p:sldId id="385" r:id="rId31"/>
    <p:sldId id="386" r:id="rId32"/>
    <p:sldId id="387" r:id="rId33"/>
    <p:sldId id="388" r:id="rId34"/>
    <p:sldId id="389" r:id="rId35"/>
    <p:sldId id="390" r:id="rId36"/>
    <p:sldId id="391" r:id="rId37"/>
    <p:sldId id="392" r:id="rId38"/>
    <p:sldId id="393" r:id="rId39"/>
    <p:sldId id="394" r:id="rId40"/>
    <p:sldId id="395" r:id="rId41"/>
    <p:sldId id="396" r:id="rId42"/>
    <p:sldId id="397" r:id="rId43"/>
    <p:sldId id="398" r:id="rId44"/>
    <p:sldId id="399" r:id="rId45"/>
    <p:sldId id="400" r:id="rId46"/>
    <p:sldId id="322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2" autoAdjust="0"/>
    <p:restoredTop sz="74558" autoAdjust="0"/>
  </p:normalViewPr>
  <p:slideViewPr>
    <p:cSldViewPr snapToGrid="0">
      <p:cViewPr varScale="1">
        <p:scale>
          <a:sx n="61" d="100"/>
          <a:sy n="61" d="100"/>
        </p:scale>
        <p:origin x="19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BAA2E-F679-43AD-B6DA-B55C6CA53C13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1EFB7-E366-4748-B0E0-B37CDB7B7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15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66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0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17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74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163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78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18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57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42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47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55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21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23158"/>
            <a:ext cx="7886700" cy="438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8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IN Condensed" panose="020B0606040000020204" pitchFamily="34" charset="0"/>
          <a:ea typeface="DIN Condensed" panose="020B0606040000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30CF-78FE-4F64-A9CC-ACA657029335}"/>
              </a:ext>
            </a:extLst>
          </p:cNvPr>
          <p:cNvSpPr txBox="1">
            <a:spLocks/>
          </p:cNvSpPr>
          <p:nvPr/>
        </p:nvSpPr>
        <p:spPr>
          <a:xfrm>
            <a:off x="297611" y="41499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Artificial Intelligence for Games</a:t>
            </a:r>
          </a:p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CMP6206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C296EC-A841-49AB-AC7B-4A212B399FB7}"/>
              </a:ext>
            </a:extLst>
          </p:cNvPr>
          <p:cNvSpPr txBox="1">
            <a:spLocks/>
          </p:cNvSpPr>
          <p:nvPr/>
        </p:nvSpPr>
        <p:spPr>
          <a:xfrm>
            <a:off x="297611" y="398345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Labs 2</a:t>
            </a:r>
          </a:p>
          <a:p>
            <a:pPr algn="ctr"/>
            <a:r>
              <a:rPr lang="en-US" b="1" dirty="0" err="1">
                <a:latin typeface="DIN Condensed" panose="020B0606040000020204" pitchFamily="34" charset="0"/>
                <a:ea typeface="DIN Condensed" panose="020B0606040000020204" pitchFamily="34" charset="0"/>
              </a:rPr>
              <a:t>Maths</a:t>
            </a:r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 for AI: Dot and Cross Product</a:t>
            </a:r>
          </a:p>
        </p:txBody>
      </p:sp>
    </p:spTree>
    <p:extLst>
      <p:ext uri="{BB962C8B-B14F-4D97-AF65-F5344CB8AC3E}">
        <p14:creationId xmlns:p14="http://schemas.microsoft.com/office/powerpoint/2010/main" val="2048106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Dot and Cross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There are two kinds of multiplication involving vectors. The first is known as the </a:t>
            </a:r>
            <a:r>
              <a:rPr lang="en-GB" sz="2200" b="1" dirty="0"/>
              <a:t>scalar product </a:t>
            </a:r>
            <a:r>
              <a:rPr lang="en-GB" sz="2200" dirty="0"/>
              <a:t>or </a:t>
            </a:r>
            <a:r>
              <a:rPr lang="en-GB" sz="2200" b="1" dirty="0"/>
              <a:t>dot product</a:t>
            </a:r>
            <a:r>
              <a:rPr lang="en-GB" sz="2200" dirty="0"/>
              <a:t>. </a:t>
            </a:r>
          </a:p>
          <a:p>
            <a:r>
              <a:rPr lang="en-GB" sz="2200" dirty="0"/>
              <a:t>When the scalar/dot product of two vectors is calculated the result is a scalar. </a:t>
            </a:r>
          </a:p>
          <a:p>
            <a:r>
              <a:rPr lang="en-GB" sz="2200" dirty="0"/>
              <a:t>The second product is known as the </a:t>
            </a:r>
            <a:r>
              <a:rPr lang="en-GB" sz="2200" b="1" dirty="0"/>
              <a:t>vector product </a:t>
            </a:r>
            <a:r>
              <a:rPr lang="en-GB" sz="2200" dirty="0"/>
              <a:t>or </a:t>
            </a:r>
            <a:r>
              <a:rPr lang="en-GB" sz="2200" b="1" dirty="0"/>
              <a:t>cross product</a:t>
            </a:r>
            <a:r>
              <a:rPr lang="en-GB" sz="2200" dirty="0"/>
              <a:t>. When this is calculated the result is a vector.</a:t>
            </a:r>
          </a:p>
        </p:txBody>
      </p:sp>
    </p:spTree>
    <p:extLst>
      <p:ext uri="{BB962C8B-B14F-4D97-AF65-F5344CB8AC3E}">
        <p14:creationId xmlns:p14="http://schemas.microsoft.com/office/powerpoint/2010/main" val="1776115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You Should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That a vector can be represented as a </a:t>
            </a:r>
            <a:r>
              <a:rPr lang="en-GB" sz="2200" dirty="0">
                <a:solidFill>
                  <a:srgbClr val="FF0000"/>
                </a:solidFill>
              </a:rPr>
              <a:t>directed line segment.</a:t>
            </a:r>
          </a:p>
          <a:p>
            <a:r>
              <a:rPr lang="en-GB" sz="2200" dirty="0"/>
              <a:t>How to express a vector in Cartesian form</a:t>
            </a:r>
          </a:p>
          <a:p>
            <a:r>
              <a:rPr lang="en-GB" sz="2200" dirty="0"/>
              <a:t>How to find the modulus of a vector</a:t>
            </a:r>
          </a:p>
        </p:txBody>
      </p:sp>
    </p:spTree>
    <p:extLst>
      <p:ext uri="{BB962C8B-B14F-4D97-AF65-F5344CB8AC3E}">
        <p14:creationId xmlns:p14="http://schemas.microsoft.com/office/powerpoint/2010/main" val="3817592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You Will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Calculate, from its definition, the scalar product of two given vectors</a:t>
            </a:r>
          </a:p>
          <a:p>
            <a:r>
              <a:rPr lang="en-GB" sz="2200" dirty="0"/>
              <a:t>Calculate the scalar product of two vectors given in Cartesian form</a:t>
            </a:r>
          </a:p>
          <a:p>
            <a:r>
              <a:rPr lang="en-GB" sz="2200" dirty="0"/>
              <a:t>Use the scalar product to find the angle between two vectors</a:t>
            </a:r>
          </a:p>
          <a:p>
            <a:r>
              <a:rPr lang="en-GB" sz="2200" dirty="0"/>
              <a:t>Use the scalar product to test whether two vectors are perpendicular</a:t>
            </a:r>
          </a:p>
          <a:p>
            <a:r>
              <a:rPr lang="en-GB" sz="2200" dirty="0"/>
              <a:t>Understand the right-handed screw rule</a:t>
            </a:r>
          </a:p>
          <a:p>
            <a:r>
              <a:rPr lang="en-GB" sz="2200" dirty="0"/>
              <a:t>Calculate the vector product of two given vectors</a:t>
            </a:r>
          </a:p>
        </p:txBody>
      </p:sp>
    </p:spTree>
    <p:extLst>
      <p:ext uri="{BB962C8B-B14F-4D97-AF65-F5344CB8AC3E}">
        <p14:creationId xmlns:p14="http://schemas.microsoft.com/office/powerpoint/2010/main" val="142342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Scalar /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Two vectors,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 Their scalar product, denoted by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, is defined as the product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|</m:t>
                    </m:r>
                    <m:r>
                      <a:rPr lang="en-GB" sz="2200" i="1" dirty="0">
                        <a:latin typeface="Cambria Math"/>
                      </a:rPr>
                      <m:t>.</m:t>
                    </m:r>
                    <m:r>
                      <a:rPr lang="en-GB" sz="2200" b="0" i="1" dirty="0" smtClean="0">
                        <a:latin typeface="Cambria Math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 smtClean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dirty="0"/>
                  <a:t>. </a:t>
                </a:r>
                <a:endParaRPr lang="en-GB" sz="2200" dirty="0"/>
              </a:p>
              <a:p>
                <a:r>
                  <a:rPr lang="en-GB" sz="2200" dirty="0"/>
                  <a:t>Dot (.) sign for the scalar </a:t>
                </a:r>
                <a:r>
                  <a:rPr lang="en-GB" sz="2200" b="1" dirty="0"/>
                  <a:t>(dot) product</a:t>
                </a:r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Cross (×) sign</a:t>
                </a:r>
                <a:r>
                  <a:rPr lang="en-GB" sz="2200" i="1" dirty="0"/>
                  <a:t> </a:t>
                </a:r>
                <a:r>
                  <a:rPr lang="en-GB" sz="2200" dirty="0"/>
                  <a:t>for the vector </a:t>
                </a:r>
                <a:r>
                  <a:rPr lang="en-GB" sz="2200" b="1" dirty="0"/>
                  <a:t>(cross) product</a:t>
                </a:r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787" r="-2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562" y="2869987"/>
            <a:ext cx="3214875" cy="2741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030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Alignment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The angle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always chosen to lie between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𝜋</m:t>
                    </m:r>
                  </m:oMath>
                </a14:m>
                <a:r>
                  <a:rPr lang="en-GB" sz="2200" dirty="0"/>
                  <a:t>, and the tails of the two vectors should coincide.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656" r="-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" y="2278712"/>
            <a:ext cx="8427719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767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Dot Product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Dot / Scalar product :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=</m:t>
                    </m:r>
                    <m:r>
                      <a:rPr lang="en-GB" sz="2200" i="1" dirty="0">
                        <a:latin typeface="Cambria Math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|.|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dirty="0"/>
                  <a:t>. </a:t>
                </a:r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“the modulus of the first vector, multiplied by the modulus of the second vector, multiplied by the cosine of the angle between them.”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Clearly: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 dirty="0" smtClean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=|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|.|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| </m:t>
                      </m:r>
                      <m:r>
                        <m:rPr>
                          <m:sty m:val="p"/>
                        </m:rPr>
                        <a:rPr lang="en-GB" sz="2200" i="1" dirty="0" err="1">
                          <a:latin typeface="Cambria Math"/>
                        </a:rPr>
                        <m:t>cos</m:t>
                      </m:r>
                      <m:r>
                        <a:rPr lang="en-GB" sz="2200" i="1" dirty="0">
                          <a:latin typeface="Cambria Math"/>
                        </a:rPr>
                        <m:t>⁡</m:t>
                      </m:r>
                      <m:r>
                        <a:rPr lang="el-GR" sz="2200" i="1" dirty="0"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=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2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Given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modulus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6</m:t>
                    </m:r>
                  </m:oMath>
                </a14:m>
                <a:r>
                  <a:rPr lang="en-GB" sz="2200" dirty="0"/>
                  <a:t> and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modulus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7</m:t>
                    </m:r>
                  </m:oMath>
                </a14:m>
                <a:r>
                  <a:rPr lang="en-GB" sz="2200" dirty="0"/>
                  <a:t> and the angle between them is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60</m:t>
                    </m:r>
                    <m:r>
                      <a:rPr lang="en-GB" sz="2200" i="1" dirty="0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GB" sz="2200" dirty="0"/>
                  <a:t>. Calculate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6 * 7 * cos(pi/3) = 21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1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43200"/>
            <a:ext cx="234315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2432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Given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modulus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6</m:t>
                    </m:r>
                  </m:oMath>
                </a14:m>
                <a:r>
                  <a:rPr lang="en-GB" sz="2200" dirty="0"/>
                  <a:t> and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modulus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7</m:t>
                    </m:r>
                  </m:oMath>
                </a14:m>
                <a:r>
                  <a:rPr lang="en-GB" sz="2200" dirty="0"/>
                  <a:t> and the angle between them is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60</m:t>
                    </m:r>
                    <m:r>
                      <a:rPr lang="en-GB" sz="2200" i="1" dirty="0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GB" sz="2200" dirty="0"/>
                  <a:t>. Calculate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=|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|.|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/>
                      </a:rPr>
                      <m:t>=</m:t>
                    </m:r>
                    <m:r>
                      <a:rPr lang="en-GB" sz="2200" b="0" i="1" dirty="0" smtClean="0">
                        <a:latin typeface="Cambria Math"/>
                      </a:rPr>
                      <m:t>6</m:t>
                    </m:r>
                    <m:r>
                      <a:rPr lang="en-GB" sz="2200" i="1" dirty="0">
                        <a:latin typeface="Cambria Math"/>
                      </a:rPr>
                      <m:t>. </m:t>
                    </m:r>
                    <m:r>
                      <a:rPr lang="en-GB" sz="2200" b="0" i="1" dirty="0" smtClean="0">
                        <a:latin typeface="Cambria Math"/>
                      </a:rPr>
                      <m:t>7 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n-GB" sz="2200" b="0" i="1" dirty="0" smtClean="0">
                        <a:latin typeface="Cambria Math"/>
                      </a:rPr>
                      <m:t>60</m:t>
                    </m:r>
                    <m:r>
                      <a:rPr lang="en-GB" sz="22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21</m:t>
                    </m: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Scalar / Dot product is always a scalar.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6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43200"/>
            <a:ext cx="234315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071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the unit vector in the direction of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-axis.</a:t>
                </a:r>
              </a:p>
              <a:p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1 * 1 * cos(0) = 1</a:t>
                </a:r>
              </a:p>
              <a:p>
                <a:pPr marL="0" indent="0">
                  <a:buNone/>
                </a:pPr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07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the unit vector in the direction of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-axis.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=|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|.|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/>
                      </a:rPr>
                      <m:t>=</m:t>
                    </m:r>
                    <m:r>
                      <a:rPr lang="en-GB" sz="2200" b="0" i="1" dirty="0" smtClean="0">
                        <a:latin typeface="Cambria Math"/>
                      </a:rPr>
                      <m:t>1</m:t>
                    </m:r>
                    <m:r>
                      <a:rPr lang="en-GB" sz="2200" i="1" dirty="0">
                        <a:latin typeface="Cambria Math"/>
                      </a:rPr>
                      <m:t>. </m:t>
                    </m:r>
                    <m:r>
                      <a:rPr lang="en-GB" sz="2200" b="0" i="1" dirty="0" smtClean="0">
                        <a:latin typeface="Cambria Math"/>
                      </a:rPr>
                      <m:t>1</m:t>
                    </m:r>
                    <m:func>
                      <m:funcPr>
                        <m:ctrlPr>
                          <a:rPr lang="en-GB" sz="2200" i="1" dirty="0" err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 i="0" dirty="0" err="1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0</m:t>
                        </m:r>
                      </m:e>
                    </m:func>
                    <m:r>
                      <a:rPr lang="en-GB" sz="2200" i="1" dirty="0">
                        <a:latin typeface="Cambria Math"/>
                      </a:rPr>
                      <m:t>=</m:t>
                    </m:r>
                    <m:r>
                      <a:rPr lang="en-GB" sz="2200" i="1" dirty="0" smtClean="0">
                        <a:latin typeface="Cambria Math"/>
                      </a:rPr>
                      <m:t> 1</m:t>
                    </m:r>
                  </m:oMath>
                </a14:m>
                <a:endParaRPr lang="en-GB" sz="2200" i="1" dirty="0"/>
              </a:p>
              <a:p>
                <a:endParaRPr lang="en-GB" sz="2200" dirty="0"/>
              </a:p>
              <a:p>
                <a:r>
                  <a:rPr lang="en-GB" sz="2200" dirty="0"/>
                  <a:t>So the scalar product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itself equals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GB" sz="2200" dirty="0"/>
                  <a:t>. It is easy to verify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= 1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= 1</m:t>
                    </m: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673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unit vectors in the directions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200" dirty="0"/>
                  <a:t>-axes.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1 * 1 * cos(pi / 2) = 0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1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1735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unit vectors in the directions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200" dirty="0"/>
                  <a:t>-axes.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=|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|.|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/>
                      </a:rPr>
                      <m:t>=1. 1</m:t>
                    </m:r>
                    <m:func>
                      <m:funcPr>
                        <m:ctrlPr>
                          <a:rPr lang="en-GB" sz="2200" i="1" dirty="0" err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 dirty="0" err="1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90</m:t>
                        </m:r>
                      </m:e>
                    </m:func>
                    <m:r>
                      <a:rPr lang="en-GB" sz="2200" i="1" dirty="0">
                        <a:latin typeface="Cambria Math"/>
                      </a:rPr>
                      <m:t>=</m:t>
                    </m:r>
                    <m:r>
                      <a:rPr lang="en-GB" sz="2200" b="0" i="1" dirty="0" smtClean="0">
                        <a:latin typeface="Cambria Math"/>
                      </a:rPr>
                      <m:t>0</m:t>
                    </m:r>
                  </m:oMath>
                </a14:m>
                <a:endParaRPr lang="en-GB" sz="2200" i="1" dirty="0"/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 </m:t>
                    </m:r>
                    <m:r>
                      <a:rPr lang="en-GB" sz="24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 </m:t>
                    </m:r>
                    <m:r>
                      <a:rPr lang="en-GB" sz="24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 </m:t>
                    </m:r>
                    <m:r>
                      <a:rPr lang="en-GB" sz="2400" i="1" dirty="0" smtClean="0">
                        <a:latin typeface="Cambria Math"/>
                      </a:rPr>
                      <m:t>= 1</m:t>
                    </m:r>
                  </m:oMath>
                </a14:m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4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4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400" i="1" dirty="0" smtClean="0">
                        <a:latin typeface="Cambria Math"/>
                      </a:rPr>
                      <m:t>= 0</m:t>
                    </m:r>
                  </m:oMath>
                </a14:m>
                <a:endParaRPr lang="en-GB" sz="2200" dirty="0"/>
              </a:p>
              <a:p>
                <a:r>
                  <a:rPr lang="en-GB" sz="2200" dirty="0"/>
                  <a:t>Whenever any two vectors are perpendicular to each other their scalar product is zero because the angle between the vectors is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90</m:t>
                    </m:r>
                    <m:r>
                      <a:rPr lang="en-GB" sz="2200" i="1" dirty="0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i="1" dirty="0" smtClean="0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⁡90</m:t>
                    </m:r>
                    <m:r>
                      <a:rPr lang="en-GB" sz="2200" i="1" dirty="0" smtClean="0">
                        <a:latin typeface="Cambria Math"/>
                        <a:ea typeface="Cambria Math"/>
                      </a:rPr>
                      <m:t>°</m:t>
                    </m:r>
                    <m:r>
                      <a:rPr lang="en-GB" sz="2200" i="1" dirty="0">
                        <a:latin typeface="Cambria Math"/>
                      </a:rPr>
                      <m:t> = 0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b="1" dirty="0"/>
                  <a:t>The scalar product of perpendicular vectors is zero.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670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Dot Product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We can use the previous results to obtain a formula for finding a scalar product when the vectors are given in </a:t>
                </a:r>
                <a:r>
                  <a:rPr lang="en-GB" sz="2200" dirty="0">
                    <a:solidFill>
                      <a:srgbClr val="FF0000"/>
                    </a:solidFill>
                  </a:rPr>
                  <a:t>Cartesian </a:t>
                </a:r>
                <a:r>
                  <a:rPr lang="en-GB" sz="2200" dirty="0"/>
                  <a:t>form. We consider vectors in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GB" sz="2200" i="1" dirty="0"/>
                  <a:t>-</a:t>
                </a:r>
                <a:r>
                  <a:rPr lang="en-GB" sz="2200" dirty="0"/>
                  <a:t>plane. Suppose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l-PL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bar>
                      </m:e>
                    </m:d>
                    <m:r>
                      <a:rPr lang="pl-PL" sz="2200" i="1" dirty="0">
                        <a:latin typeface="Cambria Math" panose="02040503050406030204" pitchFamily="18" charset="0"/>
                      </a:rPr>
                      <m:t>· </m:t>
                    </m:r>
                    <m:d>
                      <m:dPr>
                        <m:ctrlPr>
                          <a:rPr lang="pl-PL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bar>
                      </m:e>
                    </m:d>
                  </m:oMath>
                </a14:m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200" dirty="0"/>
                  <a:t>          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 </m:t>
                    </m:r>
                    <m:d>
                      <m:dPr>
                        <m:ctrlPr>
                          <a:rPr lang="pl-PL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bar>
                      </m:e>
                    </m:d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 </m:t>
                    </m:r>
                    <m:d>
                      <m:dPr>
                        <m:ctrlPr>
                          <a:rPr lang="pl-PL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bar>
                      </m:e>
                    </m:d>
                  </m:oMath>
                </a14:m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200" dirty="0"/>
                  <a:t>            </a:t>
                </a:r>
                <a14:m>
                  <m:oMath xmlns:m="http://schemas.openxmlformats.org/officeDocument/2006/math">
                    <m:r>
                      <a:rPr lang="pl-PL" sz="2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1" i="1" dirty="0">
                              <a:latin typeface="Cambria Math"/>
                            </a:rPr>
                            <m:t>𝒂</m:t>
                          </m:r>
                        </m:e>
                      </m:bar>
                      <m:r>
                        <a:rPr lang="en-GB" b="1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1" i="1" dirty="0">
                              <a:latin typeface="Cambria Math"/>
                            </a:rPr>
                            <m:t>𝒃</m:t>
                          </m:r>
                        </m:e>
                      </m:bar>
                      <m:r>
                        <a:rPr lang="pl-PL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l-PL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GB" sz="22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787" r="-14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757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A = (7, 8)</a:t>
                </a:r>
              </a:p>
              <a:p>
                <a:r>
                  <a:rPr lang="en-GB" sz="2200" dirty="0"/>
                  <a:t>B = (5, -2)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(A1 * B1) + (A2 * B2) == (7 * 5) + (8 * -2) == 19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1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795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200" dirty="0"/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35−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16=19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519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endParaRPr lang="en-GB" sz="2200" dirty="0"/>
              </a:p>
              <a:p>
                <a:pPr marL="0" indent="0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3000" b="1" i="1" dirty="0">
                              <a:latin typeface="Cambria Math"/>
                            </a:rPr>
                            <m:t>𝒂</m:t>
                          </m:r>
                        </m:e>
                      </m:bar>
                      <m:r>
                        <a:rPr lang="en-GB" sz="3000" b="1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3000" b="1" i="1" dirty="0">
                              <a:latin typeface="Cambria Math"/>
                            </a:rPr>
                            <m:t>𝒃</m:t>
                          </m:r>
                        </m:e>
                      </m:bar>
                      <m:r>
                        <a:rPr lang="pl-PL" sz="30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l-PL" sz="3000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30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sz="30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sz="30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GB" sz="3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520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+11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A = (5,3,-2)</a:t>
                </a:r>
              </a:p>
              <a:p>
                <a:r>
                  <a:rPr lang="en-GB" dirty="0"/>
                  <a:t>B = (8, -9, 11)</a:t>
                </a:r>
              </a:p>
              <a:p>
                <a:endParaRPr lang="en-GB" dirty="0"/>
              </a:p>
              <a:p>
                <a:r>
                  <a:rPr lang="en-GB" dirty="0"/>
                  <a:t>Dot = 5 * 8 + 3 * -9 + -2 * 11 = -9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288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+11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dirty="0">
                        <a:latin typeface="Cambria Math" panose="02040503050406030204" pitchFamily="18" charset="0"/>
                      </a:rPr>
                      <m:t>=(5)(8)+(3)(−9)+(−2)(11)=40−27−22 =−9</m:t>
                    </m:r>
                  </m:oMath>
                </a14:m>
                <a:endParaRPr lang="en-GB" sz="2200" dirty="0"/>
              </a:p>
              <a:p>
                <a:endParaRPr lang="en-GB" dirty="0"/>
              </a:p>
              <a:p>
                <a:r>
                  <a:rPr lang="en-GB" sz="2200" dirty="0"/>
                  <a:t>Note again that the result is a </a:t>
                </a:r>
                <a:r>
                  <a:rPr lang="en-GB" sz="2200" dirty="0">
                    <a:solidFill>
                      <a:srgbClr val="FF0000"/>
                    </a:solidFill>
                  </a:rPr>
                  <a:t>scalar</a:t>
                </a:r>
                <a:r>
                  <a:rPr lang="en-GB" sz="2200" dirty="0"/>
                  <a:t>: there are no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6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4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6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274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6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GB" sz="2200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200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200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sz="22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24+3+14</m:t>
                    </m:r>
                    <m:r>
                      <a:rPr lang="en-GB" sz="2200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6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961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dirty="0"/>
                  <a:t>. 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bar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R = (3, 2, 9)</a:t>
                </a:r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Dot = 3 * 3 + 2 * 2 + 9 * 9 = 94</a:t>
                </a:r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Length = sqrt(3^2 + 2^2 + 9^2) = 9.7</a:t>
                </a:r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9.7^2 = 94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298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dirty="0"/>
                  <a:t>. 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bar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bar>
                      <m:r>
                        <a:rPr lang="en-GB" sz="22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2200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200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GB" sz="22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0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2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200" b="0" i="0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2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200" b="0" i="0" dirty="0" smtClean="0">
                          <a:latin typeface="Cambria Math" panose="02040503050406030204" pitchFamily="18" charset="0"/>
                        </a:rPr>
                        <m:t>81</m:t>
                      </m:r>
                      <m:r>
                        <a:rPr lang="en-GB" sz="2200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2200" b="0" i="0" dirty="0" smtClean="0">
                          <a:latin typeface="Cambria Math" panose="02040503050406030204" pitchFamily="18" charset="0"/>
                        </a:rPr>
                        <m:t>94.</m:t>
                      </m:r>
                    </m:oMath>
                  </m:oMathPara>
                </a14:m>
                <a:endParaRPr lang="en-GB" sz="2200" b="0" dirty="0"/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bar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GB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GB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200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sup>
                                      <m:r>
                                        <a:rPr lang="en-GB" sz="2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  <m:sup>
                                      <m: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ad>
                            <m:radPr>
                              <m:degHide m:val="on"/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94</m:t>
                              </m:r>
                            </m:e>
                          </m:rad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=94.</m:t>
                      </m:r>
                    </m:oMath>
                  </m:oMathPara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:r>
                  <a:rPr lang="en-GB" dirty="0"/>
                  <a:t>For any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i="1" dirty="0"/>
                  <a:t>, </a:t>
                </a:r>
                <a:r>
                  <a:rPr lang="en-GB" dirty="0"/>
                  <a:t>we have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ba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748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Vector Along Another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Consider two arbitrary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GB" sz="2200" dirty="0"/>
                  <a:t>. Let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 be a </a:t>
                </a:r>
                <a:r>
                  <a:rPr lang="en-GB" sz="2200" i="1" dirty="0">
                    <a:solidFill>
                      <a:srgbClr val="FF0000"/>
                    </a:solidFill>
                  </a:rPr>
                  <a:t>unit</a:t>
                </a:r>
                <a:r>
                  <a:rPr lang="en-GB" sz="2200" i="1" dirty="0"/>
                  <a:t> vector </a:t>
                </a:r>
                <a:r>
                  <a:rPr lang="en-GB" sz="2200" dirty="0"/>
                  <a:t>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619267"/>
            <a:ext cx="5867400" cy="38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79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Vector Along Another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601" y="1844676"/>
                <a:ext cx="4445000" cy="383255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Study the figure carefully and note that a perpendicular has been drawn from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to meet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2200" dirty="0"/>
                  <a:t>. The distance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𝑂𝑄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called the </a:t>
                </a:r>
                <a:r>
                  <a:rPr lang="en-GB" sz="2200" b="1" dirty="0"/>
                  <a:t>projection </a:t>
                </a:r>
                <a:r>
                  <a:rPr lang="en-GB" sz="2200" dirty="0"/>
                  <a:t>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 onto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Simple trigonometry tells us that the length of the projection is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|</m:t>
                    </m:r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By taking the scalar product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the unit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we find:</a:t>
                </a:r>
              </a:p>
              <a:p>
                <a:pPr marL="0" indent="0">
                  <a:buNone/>
                </a:pPr>
                <a:endParaRPr lang="en-GB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ba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ba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m:rPr>
                          <m:sty m:val="p"/>
                        </m:rPr>
                        <a:rPr lang="en-GB" sz="2200" i="1" dirty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l-GR" sz="2200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2200" i="1" dirty="0">
                          <a:latin typeface="Cambria Math" panose="02040503050406030204" pitchFamily="18" charset="0"/>
                        </a:rPr>
                        <m:t> =|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GB" sz="2200" i="1" dirty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l-GR" sz="2200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1" y="1844676"/>
                <a:ext cx="4445000" cy="3832556"/>
              </a:xfrm>
              <a:blipFill>
                <a:blip r:embed="rId2"/>
                <a:stretch>
                  <a:fillRect l="-1507" t="-2707" r="-411" b="-1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01" y="1981200"/>
            <a:ext cx="4348287" cy="28354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 bwMode="auto">
              <a:xfrm>
                <a:off x="5220344" y="1572632"/>
                <a:ext cx="3429000" cy="4418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GB" sz="2200" kern="0" dirty="0"/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b="1" i="1" kern="0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1" i="1" kern="0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bar>
                    <m:r>
                      <a:rPr lang="en-GB" sz="2200" b="1" i="1" kern="0" dirty="0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ctrlPr>
                          <a:rPr lang="en-GB" sz="2200" b="1" i="1" kern="0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b="1" i="1" kern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1" i="1" kern="0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b="1" kern="0" dirty="0"/>
                  <a:t> is the component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b="1" i="1" kern="0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1" i="1" kern="0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bar>
                  </m:oMath>
                </a14:m>
                <a:r>
                  <a:rPr lang="en-GB" sz="2200" b="1" kern="0" dirty="0"/>
                  <a:t>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b="1" i="1" kern="0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b="1" i="1" kern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1" i="1" kern="0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b="1" kern="0" dirty="0"/>
                  <a:t> </a:t>
                </a: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0344" y="1572632"/>
                <a:ext cx="3429000" cy="4418013"/>
              </a:xfrm>
              <a:prstGeom prst="rect">
                <a:avLst/>
              </a:prstGeom>
              <a:blipFill>
                <a:blip r:embed="rId4"/>
                <a:stretch>
                  <a:fillRect l="-230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273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Scalar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Consider a plane containing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position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 The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unit vector perpendicular to the plane (such a vector is called a </a:t>
                </a:r>
                <a:r>
                  <a:rPr lang="en-GB" sz="2200" b="1" dirty="0"/>
                  <a:t>normal </a:t>
                </a:r>
                <a:r>
                  <a:rPr lang="en-GB" sz="2200" dirty="0"/>
                  <a:t>vector). Find an expression for the perpendicular distance of the plane from the origin.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 r="-8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35965"/>
            <a:ext cx="5486400" cy="262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15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Scalar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Consider a plane containing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position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 The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unit vector perpendicular to the plane (such a vector is called a </a:t>
                </a:r>
                <a:r>
                  <a:rPr lang="en-GB" sz="2200" b="1" dirty="0"/>
                  <a:t>normal </a:t>
                </a:r>
                <a:r>
                  <a:rPr lang="en-GB" sz="2200" dirty="0"/>
                  <a:t>vector). Find an expression for the perpendicular distance of the plane from the origin.</a:t>
                </a:r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86108"/>
            <a:ext cx="5486400" cy="262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75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Angle Between Two 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b="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b="0" i="1" dirty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b="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b="0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b="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dirty="0" err="1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l-GR" b="0" i="1" dirty="0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b="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sz="2200" dirty="0"/>
                  <a:t>Find the angle between the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+11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347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Angle Between Two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b="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b="0" i="1" dirty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b="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b="0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b="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dirty="0" err="1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l-GR" b="0" i="1" dirty="0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b="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sz="2200" dirty="0"/>
                  <a:t>Find the angle between the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+11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dirty="0">
                          <a:latin typeface="Cambria Math" panose="02040503050406030204" pitchFamily="18" charset="0"/>
                        </a:rPr>
                        <m:t>=(5)(8)+(3)(−9)+(−2)(11)=40−27−22 =−9</m:t>
                      </m:r>
                    </m:oMath>
                  </m:oMathPara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d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(−2)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38</m:t>
                        </m:r>
                      </m:e>
                    </m:rad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bar>
                      </m:e>
                    </m:d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(−9)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266</m:t>
                        </m:r>
                      </m:e>
                    </m:rad>
                  </m:oMath>
                </a14:m>
                <a:endParaRPr lang="en-GB" sz="2200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i="1" dirty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d>
                    <m:r>
                      <a:rPr lang="en-GB" sz="2400" i="1" dirty="0">
                        <a:latin typeface="Cambria Math"/>
                      </a:rPr>
                      <m:t>.</m:t>
                    </m:r>
                    <m:d>
                      <m:dPr>
                        <m:begChr m:val="|"/>
                        <m:endChr m:val="|"/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i="1" dirty="0">
                                <a:latin typeface="Cambria Math"/>
                              </a:rPr>
                              <m:t>𝑏</m:t>
                            </m:r>
                          </m:e>
                        </m:bar>
                      </m:e>
                    </m:d>
                    <m:func>
                      <m:func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dirty="0" err="1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l-GR" sz="2400" i="1" dirty="0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2200" dirty="0"/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−9=</m:t>
                      </m:r>
                      <m:rad>
                        <m:radPr>
                          <m:degHide m:val="on"/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e>
                      </m:rad>
                      <m:rad>
                        <m:radPr>
                          <m:degHide m:val="on"/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266</m:t>
                          </m:r>
                        </m:e>
                      </m:rad>
                      <m:func>
                        <m:func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i="0" dirty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(−0.0895)</m:t>
                          </m:r>
                        </m:e>
                      </m:func>
                      <m:r>
                        <a:rPr lang="en-GB" i="1" dirty="0">
                          <a:latin typeface="Cambria Math" panose="02040503050406030204" pitchFamily="18" charset="0"/>
                        </a:rPr>
                        <m:t>= 95.14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804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sz="2200" dirty="0"/>
                  <a:t>The angle </a:t>
                </a:r>
                <a:r>
                  <a:rPr lang="en-GB" sz="2200" i="1" dirty="0"/>
                  <a:t>θ </a:t>
                </a:r>
                <a:r>
                  <a:rPr lang="en-GB" sz="2200" dirty="0"/>
                  <a:t>between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,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is such that:</a:t>
                </a:r>
              </a:p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:endParaRPr lang="en-GB" sz="26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GB" sz="26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6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en-GB" sz="26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60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  <m:r>
                            <a:rPr lang="en-GB" sz="2600" i="1" dirty="0">
                              <a:latin typeface="Cambria Math"/>
                            </a:rPr>
                            <m:t>.</m:t>
                          </m:r>
                          <m:bar>
                            <m:barPr>
                              <m:ctrlPr>
                                <a:rPr lang="en-GB" sz="26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60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2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en-GB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600" i="1" dirty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bar>
                            </m:e>
                          </m:d>
                          <m:r>
                            <a:rPr lang="en-GB" sz="2600" i="1" dirty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2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en-GB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600" i="1" dirty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bar>
                            </m:e>
                          </m:d>
                        </m:den>
                      </m:f>
                    </m:oMath>
                  </m:oMathPara>
                </a14:m>
                <a:endParaRPr lang="en-GB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9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896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 Hand Screw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Consider two vectors and the plane they define, together with a unit vector, denoted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, which is perpendicular to this plane.</a:t>
                </a:r>
              </a:p>
              <a:p>
                <a:r>
                  <a:rPr lang="en-GB" sz="2200" dirty="0"/>
                  <a:t>Imagine turning a right-handed screw, aligned along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, in the sense from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towards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The screw will advance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787" r="-1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303" y="3119039"/>
            <a:ext cx="3473394" cy="251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314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 Hand Screw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On the other hand, if the right-handed screw is turned from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towards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 the screw will retract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213" y="2029160"/>
            <a:ext cx="6638344" cy="36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35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/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The vector / cross product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, written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400" i="1" dirty="0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, </a:t>
                </a:r>
                <a:r>
                  <a:rPr lang="en-GB" sz="2200" dirty="0"/>
                  <a:t>is defined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400" i="1" dirty="0">
                          <a:latin typeface="Cambria Math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sz="2400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bar>
                        <m:bar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en-GB" sz="2400" dirty="0"/>
              </a:p>
              <a:p>
                <a:pPr marL="0" indent="0" algn="ctr">
                  <a:buNone/>
                </a:pPr>
                <a:endParaRPr lang="en-GB" sz="2400" dirty="0"/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94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265" y="2602166"/>
            <a:ext cx="4821470" cy="300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39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 Product: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i="1" dirty="0">
                          <a:latin typeface="Cambria Math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i="1" dirty="0">
                          <a:latin typeface="Cambria Math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d>
                    <m:r>
                      <a:rPr lang="en-GB" sz="2200" i="1" dirty="0">
                        <a:latin typeface="Cambria Math"/>
                      </a:rPr>
                      <m:t>.</m:t>
                    </m:r>
                    <m:d>
                      <m:dPr>
                        <m:begChr m:val="|"/>
                        <m:endChr m:val="|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/>
                              </a:rPr>
                              <m:t>𝑏</m:t>
                            </m:r>
                          </m:e>
                        </m:bar>
                      </m:e>
                    </m:d>
                    <m:func>
                      <m:func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 dirty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2200" dirty="0"/>
                  <a:t> gives the cross product its modulus whereas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gives its direction.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475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bar>
                        <m:bar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Note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 arising through the application of the right-handed screw rule.</a:t>
                </a:r>
              </a:p>
              <a:p>
                <a:pPr marL="0" indent="0">
                  <a:buNone/>
                </a:pPr>
                <a:endParaRPr lang="en-GB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809" y="3305912"/>
            <a:ext cx="3614381" cy="232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26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parallel, 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Cross product = </a:t>
                </a:r>
                <a:r>
                  <a:rPr lang="en-GB" sz="2200" dirty="0" err="1"/>
                  <a:t>a.length</a:t>
                </a:r>
                <a:r>
                  <a:rPr lang="en-GB" sz="2200" dirty="0"/>
                  <a:t> * </a:t>
                </a:r>
                <a:r>
                  <a:rPr lang="en-GB" sz="2200" dirty="0" err="1"/>
                  <a:t>b.length</a:t>
                </a:r>
                <a:r>
                  <a:rPr lang="en-GB" sz="2200" dirty="0"/>
                  <a:t> * sin(angle) * e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A and b are parallel so angle between them is 0. this causes all the other calculations to come to 0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1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072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parallel, 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400" i="1" dirty="0">
                          <a:latin typeface="Cambria Math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4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sz="2400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parallel then the angle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between them is zero. Consequently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It follows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r>
                  <a:rPr lang="en-GB" sz="2200" dirty="0"/>
                  <a:t>. Note that the result,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r>
                  <a:rPr lang="en-GB" sz="2200" dirty="0"/>
                  <a:t>, is the zero vector.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r>
                  <a:rPr lang="en-GB" sz="2200" dirty="0"/>
                  <a:t>	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  <m:r>
                      <a:rPr lang="en-GB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69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find expressions for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I = (1,0,0)</a:t>
                </a:r>
              </a:p>
              <a:p>
                <a:r>
                  <a:rPr lang="en-GB" sz="2200" dirty="0"/>
                  <a:t>J = (0, 1, 0)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1 * 1 * sin(pi / 2) = 1</a:t>
                </a:r>
              </a:p>
              <a:p>
                <a:pPr marL="0" indent="0">
                  <a:buNone/>
                </a:pPr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1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3480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find expressions for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are perpendicular, the angle between them is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°.</m:t>
                    </m:r>
                  </m:oMath>
                </a14:m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2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bar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bar>
                            <m:barPr>
                              <m:ctrlPr>
                                <a:rPr lang="en-GB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bar>
                        </m:e>
                      </m:d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func>
                        <m:funcPr>
                          <m:ctrlPr>
                            <a:rPr lang="en-GB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e>
                      </m:func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200" dirty="0"/>
              </a:p>
              <a:p>
                <a:r>
                  <a:rPr lang="en-GB" sz="2200" dirty="0"/>
                  <a:t>The unit vector perpendicular to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in the sense defined by the right-hand screw rule is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99" y="3527817"/>
            <a:ext cx="6967801" cy="210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978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	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	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	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	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</a:t>
                </a:r>
              </a:p>
              <a:p>
                <a:pPr marL="0" indent="0" algn="ctr">
                  <a:buNone/>
                </a:pPr>
                <a:endParaRPr lang="en-GB" sz="2200" dirty="0"/>
              </a:p>
              <a:p>
                <a:r>
                  <a:rPr lang="en-GB" sz="2200" dirty="0"/>
                  <a:t>It is helpful to think of the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written in alphabetical order like this: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Moving left to right yields a positive result: e.g.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Moving right to left yields a negative result: e.g.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262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 Product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GB" sz="2200" dirty="0"/>
                  <a:t>Suppose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	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		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) +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) +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	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		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endParaRPr lang="en-GB" sz="1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pt-BR" sz="25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25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)</m:t>
                      </m:r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)</m:t>
                      </m:r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</m:oMath>
                  </m:oMathPara>
                </a14:m>
                <a:endParaRPr lang="en-GB" sz="2500" dirty="0"/>
              </a:p>
              <a:p>
                <a:pPr marL="0" indent="0" algn="ctr">
                  <a:buNone/>
                </a:pPr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0964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sz="2200" dirty="0"/>
                  <a:t>Evaluate the vector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Remember: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a x b = (-2 * 8 – 5 * 4)I + (5*7 – 3*-8)j + (3 * 4 – 2*7)k =</a:t>
                </a:r>
              </a:p>
              <a:p>
                <a:pPr marL="0" indent="0">
                  <a:buNone/>
                </a:pPr>
                <a:r>
                  <a:rPr lang="en-GB" sz="2200" dirty="0"/>
                  <a:t> -36i + 59j, -2k</a:t>
                </a:r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Wrong actual </a:t>
                </a:r>
                <a:r>
                  <a:rPr lang="en-GB" sz="2200" dirty="0" err="1"/>
                  <a:t>ansewer</a:t>
                </a: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−4</m:t>
                    </m:r>
                    <m:bar>
                      <m:bar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59</m:t>
                    </m:r>
                    <m:bar>
                      <m:bar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26</m:t>
                    </m:r>
                    <m:bar>
                      <m:bar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400" dirty="0"/>
                  <a:t>.</a:t>
                </a:r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B3 is -8 not 8</a:t>
                </a:r>
              </a:p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6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9640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sz="2200" dirty="0"/>
                  <a:t>Evaluate the vector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Remember: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=3,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=−2,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=5,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=7,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=4,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−2)(−8)</m:t>
                        </m:r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(5)(4)</m:t>
                        </m:r>
                      </m:e>
                    </m:d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(5)(7)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(3)(−8)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000" i="1" dirty="0">
                        <a:latin typeface="Cambria Math" panose="02040503050406030204" pitchFamily="18" charset="0"/>
                      </a:rPr>
                      <m:t>+(</m:t>
                    </m:r>
                    <m:d>
                      <m:d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−(−2)(7)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0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16−20</m:t>
                        </m:r>
                      </m:e>
                    </m:d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35+24</m:t>
                        </m:r>
                      </m:e>
                    </m:d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12+14</m:t>
                        </m:r>
                      </m:e>
                    </m:d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=−4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59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26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000" dirty="0"/>
                  <a:t>.</a:t>
                </a:r>
              </a:p>
              <a:p>
                <a:pPr marL="0" indent="0">
                  <a:buNone/>
                </a:pPr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5128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Evaluate the vector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Remember: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((5)(0) – (0)(1))I + ((0)(2) – (3)(0))j + ((3)(1) – (5)(2))k</a:t>
                </a:r>
              </a:p>
              <a:p>
                <a:pPr marL="0" indent="0">
                  <a:buNone/>
                </a:pPr>
                <a:r>
                  <a:rPr lang="en-GB" sz="2200" dirty="0"/>
                  <a:t>= 0i + 0j, -7k</a:t>
                </a:r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Almost I and j are correct but k is incorrect. B2 is -1 NOT 1</a:t>
                </a:r>
              </a:p>
              <a:p>
                <a:pPr marL="0" indent="0">
                  <a:buNone/>
                </a:pPr>
                <a:r>
                  <a:rPr lang="en-GB" sz="2200"/>
                  <a:t>((3)(-1) – (5)(2))k = -13k</a:t>
                </a:r>
                <a:endParaRPr lang="en-GB" sz="2200" dirty="0"/>
              </a:p>
              <a:p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31525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Evaluate the vector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Remember: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=3,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200" dirty="0"/>
              </a:p>
              <a:p>
                <a:r>
                  <a:rPr lang="en-GB" sz="2200" dirty="0"/>
                  <a:t>No</a:t>
                </a:r>
                <a14:m>
                  <m:oMath xmlns:m="http://schemas.openxmlformats.org/officeDocument/2006/math">
                    <m:r>
                      <a:rPr lang="en-GB" sz="220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component,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2200" dirty="0"/>
                  <a:t> are both zero.</a:t>
                </a:r>
              </a:p>
              <a:p>
                <a:pPr marL="0" indent="0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bar>
                      <m:r>
                        <a:rPr lang="en-GB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2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2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GB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smtClean="0">
                            <a:latin typeface="Cambria Math" panose="02040503050406030204" pitchFamily="18" charset="0"/>
                          </a:rPr>
                          <m:t>−3−10</m:t>
                        </m:r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0" smtClean="0">
                        <a:latin typeface="Cambria Math" panose="02040503050406030204" pitchFamily="18" charset="0"/>
                      </a:rPr>
                      <m:t>=−13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83567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30CF-78FE-4F64-A9CC-ACA657029335}"/>
              </a:ext>
            </a:extLst>
          </p:cNvPr>
          <p:cNvSpPr txBox="1">
            <a:spLocks/>
          </p:cNvSpPr>
          <p:nvPr/>
        </p:nvSpPr>
        <p:spPr>
          <a:xfrm>
            <a:off x="297611" y="41499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Artificial Intelligence for Games</a:t>
            </a:r>
          </a:p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CMP6206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C296EC-A841-49AB-AC7B-4A212B399FB7}"/>
              </a:ext>
            </a:extLst>
          </p:cNvPr>
          <p:cNvSpPr txBox="1">
            <a:spLocks/>
          </p:cNvSpPr>
          <p:nvPr/>
        </p:nvSpPr>
        <p:spPr>
          <a:xfrm>
            <a:off x="297611" y="398345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Questions?</a:t>
            </a:r>
          </a:p>
          <a:p>
            <a:pPr algn="ctr"/>
            <a:r>
              <a:rPr lang="en-US" b="1" dirty="0" err="1">
                <a:latin typeface="DIN Condensed" panose="020B0606040000020204" pitchFamily="34" charset="0"/>
                <a:ea typeface="DIN Condensed" panose="020B0606040000020204" pitchFamily="34" charset="0"/>
              </a:rPr>
              <a:t>Maths</a:t>
            </a:r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 for AI: Dot and Cross Product</a:t>
            </a:r>
          </a:p>
        </p:txBody>
      </p:sp>
    </p:spTree>
    <p:extLst>
      <p:ext uri="{BB962C8B-B14F-4D97-AF65-F5344CB8AC3E}">
        <p14:creationId xmlns:p14="http://schemas.microsoft.com/office/powerpoint/2010/main" val="27399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2363</TotalTime>
  <Words>3067</Words>
  <Application>Microsoft Office PowerPoint</Application>
  <PresentationFormat>On-screen Show (4:3)</PresentationFormat>
  <Paragraphs>298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Cambria Math</vt:lpstr>
      <vt:lpstr>DIN Condensed</vt:lpstr>
      <vt:lpstr>Office Theme</vt:lpstr>
      <vt:lpstr>PowerPoint Presentation</vt:lpstr>
      <vt:lpstr>Dot and Cross Products</vt:lpstr>
      <vt:lpstr>What You Should Know</vt:lpstr>
      <vt:lpstr>What You Will Know</vt:lpstr>
      <vt:lpstr>Scalar / Dot Product</vt:lpstr>
      <vt:lpstr>Vector Alignment</vt:lpstr>
      <vt:lpstr>Dot Product Recap</vt:lpstr>
      <vt:lpstr>Exercise: Dot Product</vt:lpstr>
      <vt:lpstr>Exercise: Dot Product</vt:lpstr>
      <vt:lpstr>Exercise: Dot Product</vt:lpstr>
      <vt:lpstr>Exercise: Dot Product</vt:lpstr>
      <vt:lpstr>Exercise: Dot Product</vt:lpstr>
      <vt:lpstr>Exercise: Dot Product</vt:lpstr>
      <vt:lpstr>Dot Product Formula</vt:lpstr>
      <vt:lpstr>Exercise: Dot Product</vt:lpstr>
      <vt:lpstr>Exercise: Dot Product</vt:lpstr>
      <vt:lpstr>3D Dot Product</vt:lpstr>
      <vt:lpstr>Exercise: Dot Product</vt:lpstr>
      <vt:lpstr>Exercise: Dot Product</vt:lpstr>
      <vt:lpstr>Exercise: Dot Product</vt:lpstr>
      <vt:lpstr>Exercise: Dot Product</vt:lpstr>
      <vt:lpstr>Exercise: Dot Product</vt:lpstr>
      <vt:lpstr>Exercise: Dot Product</vt:lpstr>
      <vt:lpstr>One Vector Along Another</vt:lpstr>
      <vt:lpstr>One Vector Along Another</vt:lpstr>
      <vt:lpstr>Exercise: Scalar Product</vt:lpstr>
      <vt:lpstr>Exercise: Scalar Product</vt:lpstr>
      <vt:lpstr>Angle Between Two Vectors</vt:lpstr>
      <vt:lpstr>Angle Between Two Vectors</vt:lpstr>
      <vt:lpstr>Generalising</vt:lpstr>
      <vt:lpstr>Right Hand Screw Rule</vt:lpstr>
      <vt:lpstr>Right Hand Screw Rule</vt:lpstr>
      <vt:lpstr>Vector / Cross Product</vt:lpstr>
      <vt:lpstr>Cross Product: Formulae</vt:lpstr>
      <vt:lpstr>▁a×▁b≠▁b×▁a</vt:lpstr>
      <vt:lpstr>Exercise: Cross Product</vt:lpstr>
      <vt:lpstr>Exercise: Cross Product</vt:lpstr>
      <vt:lpstr>Exercise: Cross Product</vt:lpstr>
      <vt:lpstr>Exercise: Cross Product</vt:lpstr>
      <vt:lpstr>Unit Vector Formulae</vt:lpstr>
      <vt:lpstr>Cross Product Formula</vt:lpstr>
      <vt:lpstr>Exercise: Cross Product</vt:lpstr>
      <vt:lpstr>Exercise: Cross Product</vt:lpstr>
      <vt:lpstr>Exercise: Cross Product</vt:lpstr>
      <vt:lpstr>Exercise: Cross Product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Warder</dc:creator>
  <cp:lastModifiedBy>James Bland</cp:lastModifiedBy>
  <cp:revision>99</cp:revision>
  <dcterms:created xsi:type="dcterms:W3CDTF">2014-08-06T14:23:10Z</dcterms:created>
  <dcterms:modified xsi:type="dcterms:W3CDTF">2024-10-04T18:37:29Z</dcterms:modified>
</cp:coreProperties>
</file>