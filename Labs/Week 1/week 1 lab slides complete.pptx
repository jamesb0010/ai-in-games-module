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258" r:id="rId2"/>
    <p:sldId id="388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5" r:id="rId14"/>
    <p:sldId id="364" r:id="rId15"/>
    <p:sldId id="366" r:id="rId16"/>
    <p:sldId id="367" r:id="rId17"/>
    <p:sldId id="368" r:id="rId18"/>
    <p:sldId id="369" r:id="rId19"/>
    <p:sldId id="370" r:id="rId20"/>
    <p:sldId id="371" r:id="rId21"/>
    <p:sldId id="372" r:id="rId22"/>
    <p:sldId id="373" r:id="rId23"/>
    <p:sldId id="374" r:id="rId24"/>
    <p:sldId id="375" r:id="rId25"/>
    <p:sldId id="376" r:id="rId26"/>
    <p:sldId id="377" r:id="rId27"/>
    <p:sldId id="378" r:id="rId28"/>
    <p:sldId id="379" r:id="rId29"/>
    <p:sldId id="380" r:id="rId30"/>
    <p:sldId id="381" r:id="rId31"/>
    <p:sldId id="382" r:id="rId32"/>
    <p:sldId id="383" r:id="rId33"/>
    <p:sldId id="384" r:id="rId34"/>
    <p:sldId id="385" r:id="rId35"/>
    <p:sldId id="386" r:id="rId36"/>
    <p:sldId id="387" r:id="rId37"/>
    <p:sldId id="389" r:id="rId38"/>
    <p:sldId id="390" r:id="rId39"/>
    <p:sldId id="391" r:id="rId40"/>
    <p:sldId id="392" r:id="rId41"/>
    <p:sldId id="322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25C839-C32C-4659-96AF-B5D9805EA19B}" v="123" dt="2020-09-20T12:53:38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32" autoAdjust="0"/>
    <p:restoredTop sz="74558" autoAdjust="0"/>
  </p:normalViewPr>
  <p:slideViewPr>
    <p:cSldViewPr snapToGrid="0">
      <p:cViewPr varScale="1">
        <p:scale>
          <a:sx n="61" d="100"/>
          <a:sy n="61" d="100"/>
        </p:scale>
        <p:origin x="6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CBAA2E-F679-43AD-B6DA-B55C6CA53C13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01EFB7-E366-4748-B0E0-B37CDB7B7D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155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663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60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178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741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7163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784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18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2570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1422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47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8246814-1D7F-482E-8907-7422CBC7CDCD}" type="datetimeFigureOut">
              <a:rPr lang="en-GB" smtClean="0"/>
              <a:t>30/09/2024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B916550-B63D-43D7-B895-69C79B3F8A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055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21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23158"/>
            <a:ext cx="7886700" cy="4387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58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DIN Condensed" panose="020B0606040000020204" pitchFamily="34" charset="0"/>
          <a:ea typeface="DIN Condensed" panose="020B0606040000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30CF-78FE-4F64-A9CC-ACA657029335}"/>
              </a:ext>
            </a:extLst>
          </p:cNvPr>
          <p:cNvSpPr txBox="1">
            <a:spLocks/>
          </p:cNvSpPr>
          <p:nvPr/>
        </p:nvSpPr>
        <p:spPr>
          <a:xfrm>
            <a:off x="297611" y="41499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Artificial Intelligence for Games</a:t>
            </a:r>
          </a:p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CMP6206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C296EC-A841-49AB-AC7B-4A212B399FB7}"/>
              </a:ext>
            </a:extLst>
          </p:cNvPr>
          <p:cNvSpPr txBox="1">
            <a:spLocks/>
          </p:cNvSpPr>
          <p:nvPr/>
        </p:nvSpPr>
        <p:spPr>
          <a:xfrm>
            <a:off x="297611" y="398345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Labs 1</a:t>
            </a:r>
          </a:p>
          <a:p>
            <a:pPr algn="ctr"/>
            <a:r>
              <a:rPr lang="en-US" b="1" dirty="0" err="1">
                <a:latin typeface="DIN Condensed" panose="020B0606040000020204" pitchFamily="34" charset="0"/>
                <a:ea typeface="DIN Condensed" panose="020B0606040000020204" pitchFamily="34" charset="0"/>
              </a:rPr>
              <a:t>Maths</a:t>
            </a:r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 for AI: Vectors</a:t>
            </a:r>
          </a:p>
        </p:txBody>
      </p:sp>
    </p:spTree>
    <p:extLst>
      <p:ext uri="{BB962C8B-B14F-4D97-AF65-F5344CB8AC3E}">
        <p14:creationId xmlns:p14="http://schemas.microsoft.com/office/powerpoint/2010/main" val="2048106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Introduction to Vectors</a:t>
            </a:r>
          </a:p>
          <a:p>
            <a:r>
              <a:rPr lang="en-GB" sz="2200" dirty="0"/>
              <a:t>Ensure:</a:t>
            </a:r>
          </a:p>
          <a:p>
            <a:pPr lvl="1"/>
            <a:r>
              <a:rPr lang="en-GB" sz="1800" dirty="0"/>
              <a:t>What is a vector?</a:t>
            </a:r>
          </a:p>
          <a:p>
            <a:pPr lvl="2"/>
            <a:r>
              <a:rPr lang="en-GB" sz="1600" dirty="0"/>
              <a:t>What is a scalar?</a:t>
            </a:r>
          </a:p>
          <a:p>
            <a:pPr lvl="1"/>
            <a:r>
              <a:rPr lang="en-GB" sz="1800" dirty="0"/>
              <a:t>Properties of vectors</a:t>
            </a:r>
          </a:p>
          <a:p>
            <a:pPr lvl="2"/>
            <a:r>
              <a:rPr lang="en-GB" sz="1600" dirty="0"/>
              <a:t>2D</a:t>
            </a:r>
          </a:p>
          <a:p>
            <a:pPr lvl="2"/>
            <a:r>
              <a:rPr lang="en-GB" sz="1600" dirty="0"/>
              <a:t>3D</a:t>
            </a:r>
          </a:p>
          <a:p>
            <a:pPr lvl="1"/>
            <a:r>
              <a:rPr lang="en-GB" sz="1800" dirty="0"/>
              <a:t>Consistent notation</a:t>
            </a:r>
          </a:p>
          <a:p>
            <a:pPr lvl="1"/>
            <a:r>
              <a:rPr lang="en-GB" sz="1800" dirty="0"/>
              <a:t>Adding, Subtracting, Multiplying</a:t>
            </a:r>
          </a:p>
          <a:p>
            <a:pPr lvl="1"/>
            <a:r>
              <a:rPr lang="en-GB" sz="1800" dirty="0"/>
              <a:t>Vector Distances</a:t>
            </a:r>
          </a:p>
          <a:p>
            <a:pPr lvl="1"/>
            <a:r>
              <a:rPr lang="en-GB" sz="1800" dirty="0"/>
              <a:t>Position Vector</a:t>
            </a:r>
          </a:p>
        </p:txBody>
      </p:sp>
    </p:spTree>
    <p:extLst>
      <p:ext uri="{BB962C8B-B14F-4D97-AF65-F5344CB8AC3E}">
        <p14:creationId xmlns:p14="http://schemas.microsoft.com/office/powerpoint/2010/main" val="659936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 Vector?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dirty="0"/>
              <a:t>Physical quantities, such as force, speed and time.</a:t>
            </a:r>
          </a:p>
          <a:p>
            <a:r>
              <a:rPr lang="en-GB" sz="2200" dirty="0"/>
              <a:t>Useful to separate these physical quantities into </a:t>
            </a:r>
            <a:r>
              <a:rPr lang="en-GB" sz="2200" dirty="0">
                <a:solidFill>
                  <a:srgbClr val="0000FF"/>
                </a:solidFill>
              </a:rPr>
              <a:t>two types</a:t>
            </a:r>
            <a:r>
              <a:rPr lang="en-GB" sz="2200" dirty="0"/>
              <a:t>.</a:t>
            </a:r>
          </a:p>
          <a:p>
            <a:pPr lvl="1"/>
            <a:r>
              <a:rPr lang="en-GB" sz="1800" dirty="0"/>
              <a:t>Quantities of the first type are known as </a:t>
            </a:r>
            <a:r>
              <a:rPr lang="en-GB" sz="1800" b="1" dirty="0"/>
              <a:t>scalars</a:t>
            </a:r>
            <a:r>
              <a:rPr lang="en-GB" sz="1800" dirty="0"/>
              <a:t>. These can be fully described by a single number known as the </a:t>
            </a:r>
            <a:r>
              <a:rPr lang="en-GB" sz="1800" b="1" dirty="0"/>
              <a:t>magnitude</a:t>
            </a:r>
            <a:r>
              <a:rPr lang="en-GB" sz="1800" dirty="0"/>
              <a:t>. </a:t>
            </a:r>
          </a:p>
          <a:p>
            <a:pPr lvl="1"/>
            <a:r>
              <a:rPr lang="en-GB" sz="1800" dirty="0"/>
              <a:t>Quantities of the second type are those which require the specification of a </a:t>
            </a:r>
            <a:r>
              <a:rPr lang="en-GB" sz="1800" b="1" dirty="0"/>
              <a:t>direction</a:t>
            </a:r>
            <a:r>
              <a:rPr lang="en-GB" sz="1800" dirty="0"/>
              <a:t>, in addition to a magnitude, before they are completely described. These are known as </a:t>
            </a:r>
            <a:r>
              <a:rPr lang="en-GB" sz="1800" b="1" dirty="0"/>
              <a:t>vectors</a:t>
            </a:r>
            <a:r>
              <a:rPr lang="en-GB" sz="1800" dirty="0"/>
              <a:t>. </a:t>
            </a:r>
          </a:p>
          <a:p>
            <a:r>
              <a:rPr lang="en-GB" sz="2200" dirty="0"/>
              <a:t>Special methods have been developed for handling vectors in calculations, giving rise to subjects such as vector algebra, vector geometry and vector calculus. </a:t>
            </a:r>
          </a:p>
          <a:p>
            <a:r>
              <a:rPr lang="en-GB" sz="2200" dirty="0"/>
              <a:t>Quantities that are vectors must be </a:t>
            </a:r>
            <a:r>
              <a:rPr lang="en-GB" sz="2200" dirty="0">
                <a:solidFill>
                  <a:srgbClr val="FF0000"/>
                </a:solidFill>
              </a:rPr>
              <a:t>manipulated</a:t>
            </a:r>
            <a:r>
              <a:rPr lang="en-GB" sz="2200" dirty="0"/>
              <a:t> according to </a:t>
            </a:r>
            <a:r>
              <a:rPr lang="en-GB" sz="2200" dirty="0">
                <a:solidFill>
                  <a:srgbClr val="FF0000"/>
                </a:solidFill>
              </a:rPr>
              <a:t>certain rules</a:t>
            </a:r>
            <a:r>
              <a:rPr lang="en-GB" sz="2200" dirty="0"/>
              <a:t>, some of which are described in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43931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Scalar vs.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b="1" dirty="0"/>
              <a:t>Speed </a:t>
            </a:r>
            <a:r>
              <a:rPr lang="en-GB" sz="2200" dirty="0"/>
              <a:t>is a </a:t>
            </a:r>
            <a:r>
              <a:rPr lang="en-GB" sz="2200" dirty="0">
                <a:solidFill>
                  <a:srgbClr val="0000FF"/>
                </a:solidFill>
              </a:rPr>
              <a:t>scalar</a:t>
            </a:r>
            <a:r>
              <a:rPr lang="en-GB" sz="2200" dirty="0"/>
              <a:t> quantity described by giving a single number in appropriate units.</a:t>
            </a:r>
          </a:p>
          <a:p>
            <a:r>
              <a:rPr lang="en-GB" sz="2200" dirty="0"/>
              <a:t>For example ‘the speed of the car is 40 kilometres per hour’. </a:t>
            </a:r>
          </a:p>
          <a:p>
            <a:r>
              <a:rPr lang="en-GB" sz="2200" dirty="0"/>
              <a:t>On the other hand </a:t>
            </a:r>
            <a:r>
              <a:rPr lang="en-GB" sz="2200" b="1" dirty="0"/>
              <a:t>velocity </a:t>
            </a:r>
            <a:r>
              <a:rPr lang="en-GB" sz="2200" dirty="0"/>
              <a:t>is a </a:t>
            </a:r>
            <a:r>
              <a:rPr lang="en-GB" sz="2200" dirty="0">
                <a:solidFill>
                  <a:srgbClr val="0000FF"/>
                </a:solidFill>
              </a:rPr>
              <a:t>vector</a:t>
            </a:r>
            <a:r>
              <a:rPr lang="en-GB" sz="2200" dirty="0"/>
              <a:t> quantity and must be specified by giving a direction as well. </a:t>
            </a:r>
          </a:p>
          <a:p>
            <a:r>
              <a:rPr lang="en-GB" sz="2200" dirty="0"/>
              <a:t>For example ‘the velocity of the aircraft is 20 metres per second due north’.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991" y="3763941"/>
            <a:ext cx="7100018" cy="1910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2273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Quantities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4809323"/>
              </p:ext>
            </p:extLst>
          </p:nvPr>
        </p:nvGraphicFramePr>
        <p:xfrm>
          <a:off x="442119" y="1389380"/>
          <a:ext cx="825976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3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3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S.I.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7576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Quantities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2183998"/>
              </p:ext>
            </p:extLst>
          </p:nvPr>
        </p:nvGraphicFramePr>
        <p:xfrm>
          <a:off x="442119" y="1389380"/>
          <a:ext cx="825976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32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3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32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Quantity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S.I.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Metre,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Mass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Kilogram, kg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Kelvin, 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Pascal, 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Joule,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Energy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Scalar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Joule, 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Displacement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Metre,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Newton,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Velocity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Metres per second, ms</a:t>
                      </a:r>
                      <a:r>
                        <a:rPr lang="en-GB" baseline="300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Acceleration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Metres /s/s, ms</a:t>
                      </a:r>
                      <a:r>
                        <a:rPr lang="en-GB" baseline="30000" dirty="0"/>
                        <a:t>-2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93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Visualising Vectors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Because a vector has a </a:t>
            </a:r>
            <a:r>
              <a:rPr lang="en-GB" sz="2200" dirty="0">
                <a:solidFill>
                  <a:srgbClr val="0000FF"/>
                </a:solidFill>
              </a:rPr>
              <a:t>direction</a:t>
            </a:r>
            <a:r>
              <a:rPr lang="en-GB" sz="2200" dirty="0"/>
              <a:t> as well as a </a:t>
            </a:r>
            <a:r>
              <a:rPr lang="en-GB" sz="2200" dirty="0">
                <a:solidFill>
                  <a:srgbClr val="0000FF"/>
                </a:solidFill>
              </a:rPr>
              <a:t>magnitude</a:t>
            </a:r>
            <a:r>
              <a:rPr lang="en-GB" sz="2200" dirty="0"/>
              <a:t> we can represent a vector by drawing a line. </a:t>
            </a:r>
          </a:p>
          <a:p>
            <a:r>
              <a:rPr lang="en-GB" sz="2200" dirty="0"/>
              <a:t>The length of the line represents the </a:t>
            </a:r>
            <a:r>
              <a:rPr lang="en-GB" sz="2200" dirty="0">
                <a:solidFill>
                  <a:srgbClr val="0000FF"/>
                </a:solidFill>
              </a:rPr>
              <a:t>magnitude</a:t>
            </a:r>
            <a:r>
              <a:rPr lang="en-GB" sz="2200" dirty="0"/>
              <a:t> of the vector given some appropriate </a:t>
            </a:r>
            <a:r>
              <a:rPr lang="en-GB" sz="2200" dirty="0">
                <a:solidFill>
                  <a:srgbClr val="0000FF"/>
                </a:solidFill>
              </a:rPr>
              <a:t>scale</a:t>
            </a:r>
            <a:r>
              <a:rPr lang="en-GB" sz="2200" dirty="0"/>
              <a:t>.</a:t>
            </a:r>
          </a:p>
          <a:p>
            <a:r>
              <a:rPr lang="en-GB" sz="2200" dirty="0"/>
              <a:t>The direction of the line represents the direction of the vector.</a:t>
            </a:r>
          </a:p>
          <a:p>
            <a:r>
              <a:rPr lang="en-GB" sz="2200" dirty="0"/>
              <a:t>We call this representation a </a:t>
            </a:r>
            <a:r>
              <a:rPr lang="en-GB" sz="2200" i="1" dirty="0">
                <a:solidFill>
                  <a:srgbClr val="FF0000"/>
                </a:solidFill>
              </a:rPr>
              <a:t>directed line segment</a:t>
            </a:r>
            <a:r>
              <a:rPr lang="en-GB" sz="2200" dirty="0"/>
              <a:t>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3608" y="3673503"/>
            <a:ext cx="2496784" cy="18659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42379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It is important when writing vectors to distinguish them from scalars. Various notations are used. To emphasise the vector from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2200" dirty="0"/>
                  <a:t> to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sz="2200" dirty="0"/>
                  <a:t>, we use an arrow and write</a:t>
                </a:r>
                <a14:m>
                  <m:oMath xmlns:m="http://schemas.openxmlformats.org/officeDocument/2006/math">
                    <m:r>
                      <a:rPr lang="en-GB" sz="2200" b="0" i="0" smtClean="0">
                        <a:latin typeface="Cambria Math"/>
                      </a:rPr>
                      <m:t> </m:t>
                    </m:r>
                    <m:acc>
                      <m:accPr>
                        <m:chr m:val="⃗"/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smtClean="0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Vectors are often written by using a bold typeface such as </a:t>
                </a:r>
                <a14:m>
                  <m:oMath xmlns:m="http://schemas.openxmlformats.org/officeDocument/2006/math">
                    <m:r>
                      <a:rPr lang="en-GB" sz="2200" b="1" i="1" dirty="0" smtClean="0">
                        <a:latin typeface="Cambria Math"/>
                      </a:rPr>
                      <m:t>𝒂</m:t>
                    </m:r>
                  </m:oMath>
                </a14:m>
                <a:r>
                  <a:rPr lang="en-GB" sz="2200" dirty="0"/>
                  <a:t>. </a:t>
                </a:r>
              </a:p>
              <a:p>
                <a:pPr lvl="1"/>
                <a:r>
                  <a:rPr lang="en-GB" sz="1800" dirty="0"/>
                  <a:t>It is difficult when handwriting to reproduce the bold face and so it is conventional to underline vector quantities and write </a:t>
                </a:r>
                <a14:m>
                  <m:oMath xmlns:m="http://schemas.openxmlformats.org/officeDocument/2006/math">
                    <m:r>
                      <a:rPr lang="en-GB" sz="1800" i="1" u="sng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1800" i="1" dirty="0"/>
                  <a:t> </a:t>
                </a:r>
                <a:r>
                  <a:rPr lang="en-GB" sz="1800" dirty="0"/>
                  <a:t>instead. </a:t>
                </a:r>
              </a:p>
              <a:p>
                <a:r>
                  <a:rPr lang="en-GB" sz="2200" dirty="0"/>
                  <a:t>So</a:t>
                </a:r>
                <a:r>
                  <a:rPr lang="en-GB" sz="22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𝐴𝐵</m:t>
                        </m:r>
                      </m:e>
                    </m:acc>
                    <m:r>
                      <a:rPr lang="en-GB" sz="2200" b="0" i="0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represent the same vector.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 r="-2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50" y="3709946"/>
            <a:ext cx="5905500" cy="181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4383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When we wish to refer to simply the magnitude, (or length), of a vector we write this using the modulus sign 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smtClean="0">
                            <a:latin typeface="Cambria Math"/>
                          </a:rPr>
                          <m:t>|</m:t>
                        </m:r>
                        <m:r>
                          <a:rPr lang="en-GB" sz="2200" b="0" i="1" smtClean="0">
                            <a:latin typeface="Cambria Math"/>
                          </a:rPr>
                          <m:t>𝐴𝐵</m:t>
                        </m:r>
                        <m:r>
                          <a:rPr lang="en-GB" sz="2200" b="0" i="1" smtClean="0">
                            <a:latin typeface="Cambria Math"/>
                          </a:rPr>
                          <m:t>|</m:t>
                        </m:r>
                      </m:e>
                    </m:acc>
                  </m:oMath>
                </a14:m>
                <a:r>
                  <a:rPr lang="en-GB" sz="2200" dirty="0"/>
                  <a:t>, or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|</m:t>
                    </m:r>
                    <m:r>
                      <a:rPr lang="en-GB" sz="2200" i="1" dirty="0" smtClean="0">
                        <a:latin typeface="Cambria Math"/>
                      </a:rPr>
                      <m:t>𝑎</m:t>
                    </m:r>
                    <m:r>
                      <a:rPr lang="en-GB" sz="2200" i="1" dirty="0" smtClean="0">
                        <a:latin typeface="Cambria Math"/>
                      </a:rPr>
                      <m:t>|</m:t>
                    </m:r>
                  </m:oMath>
                </a14:m>
                <a:r>
                  <a:rPr lang="en-GB" sz="2200" dirty="0"/>
                  <a:t>, or simply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(without the underline).</a:t>
                </a:r>
              </a:p>
              <a:p>
                <a:r>
                  <a:rPr lang="en-GB" sz="2200" dirty="0"/>
                  <a:t>In general two vectors are said to be </a:t>
                </a:r>
                <a:r>
                  <a:rPr lang="en-GB" sz="2200" b="1" dirty="0"/>
                  <a:t>equal vectors </a:t>
                </a:r>
                <a:r>
                  <a:rPr lang="en-GB" sz="2200" dirty="0"/>
                  <a:t>if they have the same magnitude and direction.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smtClean="0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smtClean="0">
                            <a:latin typeface="Cambria Math"/>
                          </a:rPr>
                          <m:t>𝐶𝐷</m:t>
                        </m:r>
                      </m:e>
                    </m:acc>
                  </m:oMath>
                </a14:m>
                <a:r>
                  <a:rPr lang="en-GB" sz="2200" dirty="0"/>
                  <a:t> are equal even though their locations differ.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 r="-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6450" y="3463142"/>
            <a:ext cx="499110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08104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A </a:t>
                </a:r>
                <a:r>
                  <a:rPr lang="en-GB" sz="2200" dirty="0">
                    <a:solidFill>
                      <a:srgbClr val="0000FF"/>
                    </a:solidFill>
                  </a:rPr>
                  <a:t>vector</a:t>
                </a:r>
                <a:r>
                  <a:rPr lang="en-GB" sz="2200" dirty="0"/>
                  <a:t> is defined only by its </a:t>
                </a:r>
                <a:r>
                  <a:rPr lang="en-GB" sz="2200" dirty="0">
                    <a:solidFill>
                      <a:srgbClr val="FF0000"/>
                    </a:solidFill>
                  </a:rPr>
                  <a:t>direction</a:t>
                </a:r>
                <a:r>
                  <a:rPr lang="en-GB" sz="2200" dirty="0"/>
                  <a:t> and </a:t>
                </a:r>
                <a:r>
                  <a:rPr lang="en-GB" sz="2200" dirty="0">
                    <a:solidFill>
                      <a:srgbClr val="FF0000"/>
                    </a:solidFill>
                  </a:rPr>
                  <a:t>magnitude</a:t>
                </a:r>
                <a:r>
                  <a:rPr lang="en-GB" sz="2200" dirty="0"/>
                  <a:t>, not by its location in space. These vectors are often called </a:t>
                </a:r>
                <a:r>
                  <a:rPr lang="en-GB" sz="2200" b="1" dirty="0"/>
                  <a:t>free </a:t>
                </a:r>
                <a:r>
                  <a:rPr lang="en-GB" sz="2200" dirty="0"/>
                  <a:t>vectors.</a:t>
                </a:r>
              </a:p>
              <a:p>
                <a:r>
                  <a:rPr lang="en-GB" sz="2200" dirty="0"/>
                  <a:t>The vector -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 vector in the opposite direction to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200" dirty="0"/>
                  <a:t>, but has the same magnitude as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𝑎</m:t>
                    </m:r>
                    <m:r>
                      <a:rPr lang="en-GB" sz="2200" b="0" i="1" u="sng" dirty="0" smtClean="0">
                        <a:latin typeface="Cambria Math"/>
                      </a:rPr>
                      <m:t>.</m:t>
                    </m:r>
                  </m:oMath>
                </a14:m>
                <a:endParaRPr lang="en-GB" sz="2200" b="0" u="sng" dirty="0"/>
              </a:p>
              <a:p>
                <a:r>
                  <a:rPr lang="en-GB" sz="2200" dirty="0"/>
                  <a:t>Geometrically, if </a:t>
                </a:r>
                <a14:m>
                  <m:oMath xmlns:m="http://schemas.openxmlformats.org/officeDocument/2006/math">
                    <m:r>
                      <a:rPr lang="en-GB" sz="2200" i="1" u="sng" dirty="0">
                        <a:latin typeface="Cambria Math"/>
                      </a:rPr>
                      <m:t>𝑎</m:t>
                    </m:r>
                    <m:r>
                      <a:rPr lang="en-GB" sz="2200" b="0" i="0" dirty="0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GB" sz="2200" dirty="0"/>
                  <a:t> then -</a:t>
                </a:r>
                <a14:m>
                  <m:oMath xmlns:m="http://schemas.openxmlformats.org/officeDocument/2006/math">
                    <m:r>
                      <a:rPr lang="en-GB" sz="2200" i="1" u="sng" dirty="0">
                        <a:latin typeface="Cambria Math"/>
                      </a:rPr>
                      <m:t>𝑎</m:t>
                    </m:r>
                    <m:r>
                      <a:rPr lang="en-GB" sz="2200" dirty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𝐵</m:t>
                        </m:r>
                        <m:r>
                          <a:rPr lang="en-GB" sz="2200" i="1" dirty="0">
                            <a:latin typeface="Cambria Math"/>
                          </a:rPr>
                          <m:t>𝐴</m:t>
                        </m:r>
                      </m:e>
                    </m:acc>
                    <m:r>
                      <a:rPr lang="en-GB" sz="2200" i="1" dirty="0">
                        <a:latin typeface="Cambria Math"/>
                      </a:rPr>
                      <m:t> </m:t>
                    </m:r>
                  </m:oMath>
                </a14:m>
                <a:endParaRPr lang="en-GB" sz="2200" i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 r="-11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462" y="3417124"/>
            <a:ext cx="479107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93103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Vector 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Draw a diagram showing an arbitrary vector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𝐹</m:t>
                    </m:r>
                  </m:oMath>
                </a14:m>
                <a:r>
                  <a:rPr lang="en-GB" sz="2200" dirty="0"/>
                  <a:t>. On the diagram show the vector −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𝐹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Vectors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GB" sz="2200" dirty="0"/>
                  <a:t> are equal vectors. Draw a diagram which might be used to represent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𝑝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𝑞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𝐹</m:t>
                        </m:r>
                      </m:e>
                    </m:bar>
                  </m:oMath>
                </a14:m>
                <a:r>
                  <a:rPr lang="en-GB" sz="2200" dirty="0"/>
                  <a:t> is a vector, what is meant by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𝐹</m:t>
                    </m:r>
                  </m:oMath>
                </a14:m>
                <a:r>
                  <a:rPr lang="en-GB" sz="2200" dirty="0"/>
                  <a:t>?</a:t>
                </a:r>
              </a:p>
              <a:p>
                <a:r>
                  <a:rPr lang="en-GB" sz="2200" dirty="0"/>
                  <a:t>F is the magnitude of the vector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236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A59D1B7-8A57-DEC2-56A5-8F4E9BBC01E1}"/>
              </a:ext>
            </a:extLst>
          </p:cNvPr>
          <p:cNvCxnSpPr/>
          <p:nvPr/>
        </p:nvCxnSpPr>
        <p:spPr>
          <a:xfrm flipV="1">
            <a:off x="1540701" y="1878904"/>
            <a:ext cx="2167003" cy="789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08CBD4B-66C6-D4EC-03D9-7F1819A623E4}"/>
              </a:ext>
            </a:extLst>
          </p:cNvPr>
          <p:cNvSpPr txBox="1"/>
          <p:nvPr/>
        </p:nvSpPr>
        <p:spPr>
          <a:xfrm>
            <a:off x="3281819" y="2025050"/>
            <a:ext cx="851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2DE454-113F-B669-62EC-FA9486DC71A0}"/>
              </a:ext>
            </a:extLst>
          </p:cNvPr>
          <p:cNvSpPr txBox="1"/>
          <p:nvPr/>
        </p:nvSpPr>
        <p:spPr>
          <a:xfrm>
            <a:off x="1784959" y="2088808"/>
            <a:ext cx="851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-F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AA9BDA-85EC-3E99-A81B-E9E032C092CD}"/>
              </a:ext>
            </a:extLst>
          </p:cNvPr>
          <p:cNvSpPr txBox="1"/>
          <p:nvPr/>
        </p:nvSpPr>
        <p:spPr>
          <a:xfrm rot="19676103">
            <a:off x="3180127" y="1674161"/>
            <a:ext cx="814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78B0C6-B645-D8B0-47D0-C0DC9BCAE5E8}"/>
              </a:ext>
            </a:extLst>
          </p:cNvPr>
          <p:cNvSpPr txBox="1"/>
          <p:nvPr/>
        </p:nvSpPr>
        <p:spPr>
          <a:xfrm rot="9361083">
            <a:off x="1398988" y="2422995"/>
            <a:ext cx="814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&gt;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C75013-CF93-F1E6-1374-CDAC05112837}"/>
              </a:ext>
            </a:extLst>
          </p:cNvPr>
          <p:cNvCxnSpPr/>
          <p:nvPr/>
        </p:nvCxnSpPr>
        <p:spPr>
          <a:xfrm flipV="1">
            <a:off x="1169592" y="3744997"/>
            <a:ext cx="2167003" cy="789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ABB0B5-89B4-E4E7-F4FB-DEFAA615DB83}"/>
              </a:ext>
            </a:extLst>
          </p:cNvPr>
          <p:cNvCxnSpPr/>
          <p:nvPr/>
        </p:nvCxnSpPr>
        <p:spPr>
          <a:xfrm flipV="1">
            <a:off x="4723905" y="3788553"/>
            <a:ext cx="2167003" cy="7891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D18C5AC-117C-51EE-34E7-8617C8B7C68F}"/>
              </a:ext>
            </a:extLst>
          </p:cNvPr>
          <p:cNvSpPr txBox="1"/>
          <p:nvPr/>
        </p:nvSpPr>
        <p:spPr>
          <a:xfrm>
            <a:off x="2292425" y="3998457"/>
            <a:ext cx="851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462AC0-ACDF-DE73-9B48-67FB2AF9A68F}"/>
              </a:ext>
            </a:extLst>
          </p:cNvPr>
          <p:cNvSpPr txBox="1"/>
          <p:nvPr/>
        </p:nvSpPr>
        <p:spPr>
          <a:xfrm>
            <a:off x="6039138" y="4004435"/>
            <a:ext cx="851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5047111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Addition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200" dirty="0"/>
                  <a:t>Vectors are added in a particular way known as the </a:t>
                </a:r>
                <a:r>
                  <a:rPr lang="en-GB" sz="2200" b="1" dirty="0"/>
                  <a:t>triangle law</a:t>
                </a:r>
                <a:r>
                  <a:rPr lang="en-GB" sz="2200" dirty="0"/>
                  <a:t>. Consider the following example:</a:t>
                </a:r>
              </a:p>
              <a:p>
                <a:r>
                  <a:rPr lang="en-GB" sz="2400" dirty="0"/>
                  <a:t>A vehicle moves on tracks around a factory floor carrying components from the store at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2400" dirty="0"/>
                  <a:t> to workers at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GB" sz="2400" dirty="0"/>
                  <a:t>, via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sz="2400" dirty="0"/>
                  <a:t>.</a:t>
                </a:r>
              </a:p>
              <a:p>
                <a:r>
                  <a:rPr lang="en-GB" sz="2400" dirty="0"/>
                  <a:t>The movement from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sz="2400" dirty="0"/>
                  <a:t> can be represented by a displacement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GB" sz="2400" dirty="0"/>
                  <a:t>. Similarly, movement from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GB" sz="2400" dirty="0"/>
                  <a:t> can be represented by the displacement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/>
                          </a:rPr>
                          <m:t>𝐵𝐶</m:t>
                        </m:r>
                      </m:e>
                    </m:acc>
                  </m:oMath>
                </a14:m>
                <a:r>
                  <a:rPr lang="en-GB" sz="2400" dirty="0"/>
                  <a:t>, and movement from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GB" sz="2400" dirty="0"/>
                  <a:t> can be represented by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/>
                          </a:rPr>
                          <m:t>𝐴𝐶</m:t>
                        </m:r>
                      </m:e>
                    </m:acc>
                  </m:oMath>
                </a14:m>
                <a:r>
                  <a:rPr lang="en-GB" sz="2400" dirty="0"/>
                  <a:t>. </a:t>
                </a:r>
              </a:p>
              <a:p>
                <a:r>
                  <a:rPr lang="en-GB" sz="2400" dirty="0"/>
                  <a:t>Since travelling from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sz="2400" dirty="0"/>
                  <a:t> and then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𝐵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GB" sz="2400" dirty="0"/>
                  <a:t> is equivalent to travelling directly from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2400" dirty="0"/>
                  <a:t> to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GB" sz="2400" dirty="0"/>
                  <a:t>, we write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/>
                          </a:rPr>
                          <m:t>𝐴𝐵</m:t>
                        </m:r>
                      </m:e>
                    </m:acc>
                    <m:r>
                      <a:rPr lang="en-GB" sz="2400" b="0" i="1" smtClean="0">
                        <a:latin typeface="Cambria Math"/>
                      </a:rPr>
                      <m:t>+</m:t>
                    </m:r>
                    <m:acc>
                      <m:accPr>
                        <m:chr m:val="⃗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/>
                          </a:rPr>
                          <m:t>𝐵𝐶</m:t>
                        </m:r>
                      </m:e>
                    </m:acc>
                    <m:r>
                      <a:rPr lang="en-GB" sz="2400" b="0" i="1" smtClean="0">
                        <a:latin typeface="Cambria Math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latin typeface="Cambria Math"/>
                          </a:rPr>
                          <m:t>𝐴𝐶</m:t>
                        </m:r>
                      </m:e>
                    </m:acc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808" r="-10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8940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958748"/>
            <a:ext cx="7391400" cy="4707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3681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49" y="1940651"/>
            <a:ext cx="6736118" cy="2319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Triangle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Note that we can add vectors by placing the </a:t>
            </a:r>
            <a:r>
              <a:rPr lang="en-GB" sz="2200" dirty="0">
                <a:solidFill>
                  <a:srgbClr val="0000FF"/>
                </a:solidFill>
              </a:rPr>
              <a:t>tail</a:t>
            </a:r>
            <a:r>
              <a:rPr lang="en-GB" sz="2200" dirty="0"/>
              <a:t> of the </a:t>
            </a:r>
            <a:r>
              <a:rPr lang="en-GB" sz="2200" dirty="0">
                <a:solidFill>
                  <a:srgbClr val="FF0000"/>
                </a:solidFill>
              </a:rPr>
              <a:t>second</a:t>
            </a:r>
            <a:r>
              <a:rPr lang="en-GB" sz="2200" dirty="0"/>
              <a:t> at the </a:t>
            </a:r>
            <a:r>
              <a:rPr lang="en-GB" sz="2200" dirty="0">
                <a:solidFill>
                  <a:srgbClr val="0000FF"/>
                </a:solidFill>
              </a:rPr>
              <a:t>head</a:t>
            </a:r>
            <a:r>
              <a:rPr lang="en-GB" sz="2200" dirty="0"/>
              <a:t> of the </a:t>
            </a:r>
            <a:r>
              <a:rPr lang="en-GB" sz="2200" dirty="0">
                <a:solidFill>
                  <a:srgbClr val="FF0000"/>
                </a:solidFill>
              </a:rPr>
              <a:t>first</a:t>
            </a:r>
            <a:r>
              <a:rPr lang="en-GB" sz="2200" dirty="0"/>
              <a:t> and completing the third side of the triangle so formed.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379" y="3236051"/>
            <a:ext cx="5310188" cy="23987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7440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Triangle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Redraw the diagram below to 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smtClean="0">
                        <a:latin typeface="Cambria Math"/>
                      </a:rPr>
                      <m:t>+</m:t>
                    </m:r>
                    <m:bar>
                      <m:bar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. Find also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>
                        <a:latin typeface="Cambria Math"/>
                      </a:rPr>
                      <m:t>+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. Is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>
                        <a:latin typeface="Cambria Math"/>
                      </a:rPr>
                      <m:t>+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the same as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>
                        <a:latin typeface="Cambria Math"/>
                      </a:rPr>
                      <m:t>+</m:t>
                    </m:r>
                    <m:bar>
                      <m:barPr>
                        <m:ctrlPr>
                          <a:rPr lang="en-GB" sz="22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92" y="1952702"/>
            <a:ext cx="2541311" cy="14762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8EEF109-0CE5-5329-CE3C-81CA1BB479CD}"/>
              </a:ext>
            </a:extLst>
          </p:cNvPr>
          <p:cNvCxnSpPr/>
          <p:nvPr/>
        </p:nvCxnSpPr>
        <p:spPr>
          <a:xfrm flipV="1">
            <a:off x="3407079" y="2292263"/>
            <a:ext cx="3607496" cy="100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6147DC5-D554-80CC-22C5-CFD070D0F135}"/>
              </a:ext>
            </a:extLst>
          </p:cNvPr>
          <p:cNvSpPr txBox="1"/>
          <p:nvPr/>
        </p:nvSpPr>
        <p:spPr>
          <a:xfrm>
            <a:off x="4572000" y="1952702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BF38CF2-7674-3A68-0B73-AF217799ADB3}"/>
              </a:ext>
            </a:extLst>
          </p:cNvPr>
          <p:cNvCxnSpPr>
            <a:cxnSpLocks/>
          </p:cNvCxnSpPr>
          <p:nvPr/>
        </p:nvCxnSpPr>
        <p:spPr>
          <a:xfrm>
            <a:off x="7014575" y="2292263"/>
            <a:ext cx="1066185" cy="84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4FDC71C-0D47-6F42-A8A9-42FF7EC0EF85}"/>
              </a:ext>
            </a:extLst>
          </p:cNvPr>
          <p:cNvSpPr txBox="1"/>
          <p:nvPr/>
        </p:nvSpPr>
        <p:spPr>
          <a:xfrm>
            <a:off x="7391233" y="2292263"/>
            <a:ext cx="68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F87C6F9-35B2-3971-EA2C-1CDF32CD5DAC}"/>
              </a:ext>
            </a:extLst>
          </p:cNvPr>
          <p:cNvCxnSpPr>
            <a:cxnSpLocks/>
          </p:cNvCxnSpPr>
          <p:nvPr/>
        </p:nvCxnSpPr>
        <p:spPr>
          <a:xfrm>
            <a:off x="3407079" y="3797474"/>
            <a:ext cx="1066185" cy="84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4FA6E9C-8D42-736A-2612-46DC828CC252}"/>
              </a:ext>
            </a:extLst>
          </p:cNvPr>
          <p:cNvSpPr txBox="1"/>
          <p:nvPr/>
        </p:nvSpPr>
        <p:spPr>
          <a:xfrm>
            <a:off x="3783737" y="3797474"/>
            <a:ext cx="688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092C9E-49B4-4D96-AB95-6CBD5F4768D2}"/>
              </a:ext>
            </a:extLst>
          </p:cNvPr>
          <p:cNvCxnSpPr/>
          <p:nvPr/>
        </p:nvCxnSpPr>
        <p:spPr>
          <a:xfrm flipV="1">
            <a:off x="4436301" y="4524950"/>
            <a:ext cx="3607496" cy="100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D6441C3-80F2-92CC-7A19-BA2B6990ED02}"/>
              </a:ext>
            </a:extLst>
          </p:cNvPr>
          <p:cNvSpPr txBox="1"/>
          <p:nvPr/>
        </p:nvSpPr>
        <p:spPr>
          <a:xfrm>
            <a:off x="5601222" y="4185389"/>
            <a:ext cx="538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A3BE3E-4ADD-8E7B-5BFC-AABECF76588B}"/>
              </a:ext>
            </a:extLst>
          </p:cNvPr>
          <p:cNvSpPr txBox="1"/>
          <p:nvPr/>
        </p:nvSpPr>
        <p:spPr>
          <a:xfrm>
            <a:off x="4653419" y="3092244"/>
            <a:ext cx="2818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same</a:t>
            </a:r>
          </a:p>
        </p:txBody>
      </p:sp>
    </p:spTree>
    <p:extLst>
      <p:ext uri="{BB962C8B-B14F-4D97-AF65-F5344CB8AC3E}">
        <p14:creationId xmlns:p14="http://schemas.microsoft.com/office/powerpoint/2010/main" val="41003161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Laws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200" dirty="0"/>
                  <a:t>It is possible, using the triangle law, to prove the following rules which apply to any three vectors </a:t>
                </a:r>
                <a14:m>
                  <m:oMath xmlns:m="http://schemas.openxmlformats.org/officeDocument/2006/math">
                    <m:r>
                      <a:rPr lang="en-GB" sz="2200" b="0" i="1" u="sng" dirty="0" smtClean="0">
                        <a:latin typeface="Cambria Math"/>
                      </a:rPr>
                      <m:t>𝑎</m:t>
                    </m: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a:rPr lang="en-GB" sz="2200" b="0" i="1" u="sng" dirty="0" smtClean="0">
                        <a:latin typeface="Cambria Math"/>
                      </a:rPr>
                      <m:t>𝑏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b="0" i="1" u="sng" dirty="0" smtClean="0">
                        <a:latin typeface="Cambria Math"/>
                      </a:rPr>
                      <m:t>𝑐</m:t>
                    </m:r>
                  </m:oMath>
                </a14:m>
                <a:endParaRPr lang="en-GB" sz="2200" u="sng" dirty="0"/>
              </a:p>
              <a:p>
                <a:endParaRPr lang="en-GB" sz="2200" u="sng" dirty="0"/>
              </a:p>
              <a:p>
                <a:r>
                  <a:rPr lang="en-GB" sz="2400" dirty="0"/>
                  <a:t>Vector addition is said to be </a:t>
                </a:r>
                <a:r>
                  <a:rPr lang="en-GB" sz="2400" dirty="0">
                    <a:solidFill>
                      <a:srgbClr val="FF0000"/>
                    </a:solidFill>
                  </a:rPr>
                  <a:t>commutative</a:t>
                </a:r>
              </a:p>
              <a:p>
                <a:pPr marL="0" indent="0" algn="ctr">
                  <a:buNone/>
                </a:pPr>
                <a:endParaRPr lang="en-GB" sz="2200" i="1" dirty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>
                          <a:latin typeface="Cambria Math"/>
                        </a:rPr>
                        <m:t>+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b="0" i="0" smtClean="0">
                          <a:latin typeface="Cambria Math"/>
                        </a:rPr>
                        <m:t>= 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i="1">
                          <a:latin typeface="Cambria Math"/>
                        </a:rPr>
                        <m:t>+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𝑎</m:t>
                          </m:r>
                        </m:e>
                      </m:bar>
                    </m:oMath>
                  </m:oMathPara>
                </a14:m>
                <a:endParaRPr lang="en-GB" sz="2200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:endParaRPr lang="en-GB" sz="2200" dirty="0">
                  <a:solidFill>
                    <a:srgbClr val="FF0000"/>
                  </a:solidFill>
                </a:endParaRPr>
              </a:p>
              <a:p>
                <a:r>
                  <a:rPr lang="en-GB" sz="2400" dirty="0"/>
                  <a:t>Vector addition is said to be </a:t>
                </a:r>
                <a:r>
                  <a:rPr lang="en-GB" sz="2400" dirty="0">
                    <a:solidFill>
                      <a:srgbClr val="FF0000"/>
                    </a:solidFill>
                  </a:rPr>
                  <a:t>associative</a:t>
                </a:r>
              </a:p>
              <a:p>
                <a:pPr marL="0" indent="0" algn="ctr">
                  <a:buNone/>
                </a:pPr>
                <a:endParaRPr lang="en-GB" sz="2200" i="1" dirty="0">
                  <a:latin typeface="Cambria Math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>
                          <a:latin typeface="Cambria Math"/>
                        </a:rPr>
                        <m:t>+</m:t>
                      </m:r>
                      <m:r>
                        <a:rPr lang="en-GB" sz="2200" b="0" i="1" smtClean="0">
                          <a:latin typeface="Cambria Math"/>
                        </a:rPr>
                        <m:t>(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b="0" i="1" smtClean="0">
                          <a:latin typeface="Cambria Math"/>
                        </a:rPr>
                        <m:t>+</m:t>
                      </m:r>
                      <m:bar>
                        <m:barPr>
                          <m:ctrlPr>
                            <a:rPr lang="en-GB" sz="2200" b="0" i="1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/>
                            </a:rPr>
                            <m:t>𝑐</m:t>
                          </m:r>
                        </m:e>
                      </m:bar>
                      <m:r>
                        <a:rPr lang="en-GB" sz="2200" b="0" i="1" smtClean="0">
                          <a:latin typeface="Cambria Math"/>
                        </a:rPr>
                        <m:t>)</m:t>
                      </m:r>
                      <m:r>
                        <a:rPr lang="en-GB" sz="2200">
                          <a:latin typeface="Cambria Math"/>
                        </a:rPr>
                        <m:t>=</m:t>
                      </m:r>
                      <m:r>
                        <a:rPr lang="en-GB" sz="2200" b="0" i="1" smtClean="0">
                          <a:latin typeface="Cambria Math"/>
                        </a:rPr>
                        <m:t>(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>
                          <a:latin typeface="Cambria Math"/>
                        </a:rPr>
                        <m:t>+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>
                              <a:latin typeface="Cambria Math"/>
                            </a:rPr>
                            <m:t>𝑏</m:t>
                          </m:r>
                        </m:e>
                      </m:bar>
                      <m:r>
                        <a:rPr lang="en-GB" sz="2200" b="0" i="1" smtClean="0">
                          <a:latin typeface="Cambria Math"/>
                        </a:rPr>
                        <m:t>)</m:t>
                      </m:r>
                      <m:r>
                        <a:rPr lang="en-GB" sz="2200" i="1">
                          <a:latin typeface="Cambria Math"/>
                        </a:rPr>
                        <m:t>+</m:t>
                      </m:r>
                      <m:bar>
                        <m:barPr>
                          <m:ctrlPr>
                            <a:rPr lang="en-GB" sz="2200" i="1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smtClean="0">
                              <a:latin typeface="Cambria Math"/>
                            </a:rPr>
                            <m:t>𝑐</m:t>
                          </m:r>
                        </m:e>
                      </m:bar>
                    </m:oMath>
                  </m:oMathPara>
                </a14:m>
                <a:endParaRPr lang="en-GB" sz="2200" u="sng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05" t="-18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153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Subtraction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Subtraction of one vector from another is performed by adding the corresponding </a:t>
                </a:r>
                <a:r>
                  <a:rPr lang="en-GB" sz="2200" dirty="0">
                    <a:solidFill>
                      <a:srgbClr val="FF0000"/>
                    </a:solidFill>
                  </a:rPr>
                  <a:t>negative</a:t>
                </a:r>
                <a:r>
                  <a:rPr lang="en-GB" sz="2200" dirty="0"/>
                  <a:t> vector. If we seek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−</m:t>
                    </m:r>
                    <m:bar>
                      <m:barPr>
                        <m:ctrlPr>
                          <a:rPr lang="en-GB" sz="2200" b="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sz="2200" dirty="0"/>
                  <a:t>we form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+(</m:t>
                    </m:r>
                    <m:r>
                      <a:rPr lang="en-GB" sz="2200" i="1" dirty="0">
                        <a:latin typeface="Cambria Math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Note that in the right-hand diagram the arrow 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sz="2200" dirty="0"/>
                  <a:t>has been </a:t>
                </a:r>
                <a:r>
                  <a:rPr lang="en-GB" sz="2200" dirty="0">
                    <a:solidFill>
                      <a:srgbClr val="FF0000"/>
                    </a:solidFill>
                  </a:rPr>
                  <a:t>reversed</a:t>
                </a:r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 r="-15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569" y="2996086"/>
            <a:ext cx="6622861" cy="2638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16061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Vector Manipulation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23158"/>
                <a:ext cx="7886700" cy="5269715"/>
              </a:xfrm>
            </p:spPr>
            <p:txBody>
              <a:bodyPr/>
              <a:lstStyle/>
              <a:p>
                <a:r>
                  <a:rPr lang="en-GB" sz="2200" dirty="0"/>
                  <a:t>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𝑝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represent two perpendicular sides of a square. Find vector expressions which represent the diagonals of the square.</a:t>
                </a:r>
              </a:p>
              <a:p>
                <a:endParaRPr lang="en-GB" sz="2200" dirty="0"/>
              </a:p>
              <a:p>
                <a:r>
                  <a:rPr lang="en-GB" sz="2200" b="1" dirty="0"/>
                  <a:t>p + q    p - q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In the rectangle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𝐴𝐵𝐶𝐷</m:t>
                    </m:r>
                  </m:oMath>
                </a14:m>
                <a:r>
                  <a:rPr lang="en-GB" sz="2200" dirty="0"/>
                  <a:t>, side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𝐴𝐵</m:t>
                    </m:r>
                  </m:oMath>
                </a14:m>
                <a:r>
                  <a:rPr lang="en-GB" sz="2200" dirty="0"/>
                  <a:t> is represented by the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𝑝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side BC is represented by the vector </a:t>
                </a:r>
                <a:r>
                  <a:rPr lang="en-GB" sz="2200" i="1" dirty="0"/>
                  <a:t>q</a:t>
                </a:r>
                <a:r>
                  <a:rPr lang="en-GB" sz="2200" dirty="0"/>
                  <a:t>. State the physical significance of the vectors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𝑞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𝑝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+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They are diagonal vectors crossing from the two sides of the rectangle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23158"/>
                <a:ext cx="7886700" cy="5269715"/>
              </a:xfrm>
              <a:blipFill>
                <a:blip r:embed="rId3"/>
                <a:stretch>
                  <a:fillRect l="-850" t="-12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4311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565" y="4416115"/>
            <a:ext cx="3286870" cy="12187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</a:t>
            </a:r>
            <a:r>
              <a:rPr lang="en-GB" b="1" dirty="0"/>
              <a:t>Scalar</a:t>
            </a:r>
            <a:r>
              <a:rPr lang="en-GB" dirty="0"/>
              <a:t>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If </a:t>
                </a:r>
                <a:r>
                  <a:rPr lang="en-GB" sz="2200" i="1" dirty="0"/>
                  <a:t>k </a:t>
                </a:r>
                <a:r>
                  <a:rPr lang="en-GB" sz="2200" dirty="0"/>
                  <a:t>is any </a:t>
                </a:r>
                <a:r>
                  <a:rPr lang="en-GB" sz="2200" dirty="0">
                    <a:solidFill>
                      <a:srgbClr val="FF0000"/>
                    </a:solidFill>
                  </a:rPr>
                  <a:t>positive</a:t>
                </a:r>
                <a:r>
                  <a:rPr lang="en-GB" sz="2200" dirty="0"/>
                  <a:t> scalar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 vector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 vector in the same direction as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but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times longer. If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</a:t>
                </a:r>
                <a:r>
                  <a:rPr lang="en-GB" sz="2200" dirty="0">
                    <a:solidFill>
                      <a:srgbClr val="FF0000"/>
                    </a:solidFill>
                  </a:rPr>
                  <a:t>negative</a:t>
                </a:r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a vector in the opposite direction to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times longer.</a:t>
                </a:r>
              </a:p>
              <a:p>
                <a:r>
                  <a:rPr lang="en-GB" sz="2200" dirty="0"/>
                  <a:t>The 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b="0" i="0" dirty="0" smtClean="0">
                        <a:latin typeface="Cambria Math"/>
                      </a:rPr>
                      <m:t>k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said to be a </a:t>
                </a:r>
                <a:r>
                  <a:rPr lang="en-GB" sz="2200" b="1" dirty="0"/>
                  <a:t>scalar multiple </a:t>
                </a:r>
                <a:r>
                  <a:rPr lang="en-GB" sz="2200" dirty="0"/>
                  <a:t>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The vector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three times as long as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has the same direction. </a:t>
                </a:r>
              </a:p>
              <a:p>
                <a:r>
                  <a:rPr lang="en-GB" sz="2200" dirty="0"/>
                  <a:t>The vector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2200" b="0" i="1" smtClean="0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in the same direction as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i="1" dirty="0"/>
                  <a:t>, </a:t>
                </a:r>
                <a:r>
                  <a:rPr lang="en-GB" sz="2200" dirty="0"/>
                  <a:t>but is half as long. </a:t>
                </a:r>
              </a:p>
              <a:p>
                <a:r>
                  <a:rPr lang="en-GB" sz="2200" dirty="0"/>
                  <a:t>The vector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−4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in the opposite direction to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four times as long.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4"/>
                <a:stretch>
                  <a:fillRect l="-812" t="-787" r="-1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91061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Vector </a:t>
            </a:r>
            <a:r>
              <a:rPr lang="en-GB" b="1" dirty="0"/>
              <a:t>Scalar</a:t>
            </a:r>
            <a:r>
              <a:rPr lang="en-GB" dirty="0"/>
              <a:t> Multiplication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For any </a:t>
                </a:r>
                <a:r>
                  <a:rPr lang="en-GB" sz="2200" dirty="0">
                    <a:solidFill>
                      <a:srgbClr val="FF0000"/>
                    </a:solidFill>
                  </a:rPr>
                  <a:t>scalars</a:t>
                </a: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𝑘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𝑙</m:t>
                    </m:r>
                  </m:oMath>
                </a14:m>
                <a:r>
                  <a:rPr lang="en-GB" sz="2200" dirty="0"/>
                  <a:t>, and any </a:t>
                </a:r>
                <a:r>
                  <a:rPr lang="en-GB" sz="2200" dirty="0">
                    <a:solidFill>
                      <a:srgbClr val="FF0000"/>
                    </a:solidFill>
                  </a:rPr>
                  <a:t>vectors</a:t>
                </a: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i="1" dirty="0"/>
                  <a:t>, </a:t>
                </a:r>
                <a:r>
                  <a:rPr lang="en-GB" sz="2200" dirty="0"/>
                  <a:t>the following rules hold: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r>
                      <a:rPr lang="en-GB" sz="2200" b="0" i="1" dirty="0" smtClean="0">
                        <a:latin typeface="Cambria Math"/>
                      </a:rPr>
                      <m:t>(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+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b="0" i="1" dirty="0" smtClean="0">
                        <a:latin typeface="Cambria Math"/>
                      </a:rPr>
                      <m:t>)</m:t>
                    </m:r>
                    <m:r>
                      <a:rPr lang="en-GB" sz="2200" i="1" dirty="0">
                        <a:latin typeface="Cambria Math"/>
                      </a:rPr>
                      <m:t> </m:t>
                    </m:r>
                    <m:r>
                      <a:rPr lang="en-GB" sz="22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/>
                          </a:rPr>
                          <m:t>𝑏</m:t>
                        </m:r>
                      </m:e>
                    </m:bar>
                  </m:oMath>
                </a14:m>
                <a:endParaRPr lang="en-GB" sz="2200" i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r>
                      <a:rPr lang="en-GB" sz="2200" b="0" i="1" dirty="0" smtClean="0">
                        <a:latin typeface="Cambria Math"/>
                      </a:rPr>
                      <m:t>+</m:t>
                    </m:r>
                    <m:r>
                      <a:rPr lang="en-GB" sz="2200" i="1" dirty="0">
                        <a:latin typeface="Cambria Math"/>
                      </a:rPr>
                      <m:t>𝑙</m:t>
                    </m:r>
                    <m:r>
                      <a:rPr lang="en-GB" sz="2200" b="0" i="1" dirty="0" smtClean="0">
                        <a:latin typeface="Cambria Math"/>
                      </a:rPr>
                      <m:t>)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 </m:t>
                    </m:r>
                    <m:r>
                      <a:rPr lang="en-GB" sz="22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 smtClean="0">
                        <a:latin typeface="Cambria Math"/>
                      </a:rPr>
                      <m:t>l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endParaRPr lang="en-GB" sz="2200" i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r>
                      <a:rPr lang="en-GB" sz="2200" b="0" i="1" dirty="0" smtClean="0">
                        <a:latin typeface="Cambria Math"/>
                      </a:rPr>
                      <m:t>(</m:t>
                    </m:r>
                    <m:r>
                      <a:rPr lang="en-GB" sz="2200" i="1" dirty="0">
                        <a:latin typeface="Cambria Math"/>
                      </a:rPr>
                      <m:t>𝑙</m:t>
                    </m:r>
                    <m:r>
                      <a:rPr lang="en-GB" sz="2200" b="0" i="1" dirty="0" smtClean="0">
                        <a:latin typeface="Cambria Math"/>
                      </a:rPr>
                      <m:t>)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=</m:t>
                    </m:r>
                  </m:oMath>
                </a14:m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200" dirty="0">
                        <a:latin typeface="Cambria Math"/>
                      </a:rPr>
                      <m:t>k</m:t>
                    </m:r>
                    <m:r>
                      <a:rPr lang="en-GB" sz="2200" b="0" i="1" dirty="0" smtClean="0">
                        <a:latin typeface="Cambria Math"/>
                      </a:rPr>
                      <m:t>𝑙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787" r="-17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033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Using the rules provided so far, simplify the following:</a:t>
                </a:r>
              </a:p>
              <a:p>
                <a:pPr marL="0" indent="0" algn="ctr">
                  <a:buNone/>
                </a:pPr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0" dirty="0" smtClean="0">
                          <a:latin typeface="Cambria Math"/>
                        </a:rPr>
                        <m:t>3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i="1" dirty="0">
                              <a:latin typeface="Cambria Math"/>
                            </a:rPr>
                            <m:t>𝑎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+</m:t>
                      </m:r>
                      <m:r>
                        <a:rPr lang="en-GB" sz="2200" b="0" i="1" dirty="0" smtClean="0">
                          <a:latin typeface="Cambria Math"/>
                        </a:rPr>
                        <m:t>7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𝑎</m:t>
                          </m:r>
                        </m:e>
                      </m:bar>
                    </m:oMath>
                  </m:oMathPara>
                </a14:m>
                <a:endParaRPr lang="en-GB" sz="2200" i="1" dirty="0"/>
              </a:p>
              <a:p>
                <a:pPr marL="0" indent="0" algn="ctr">
                  <a:buNone/>
                </a:pPr>
                <a:r>
                  <a:rPr lang="en-GB" sz="2200" dirty="0"/>
                  <a:t>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/>
                      </a:rPr>
                      <m:t>2</m:t>
                    </m:r>
                    <m:r>
                      <a:rPr lang="en-GB" sz="2200" i="1" dirty="0">
                        <a:latin typeface="Cambria Math"/>
                      </a:rPr>
                      <m:t>(</m:t>
                    </m:r>
                    <m:r>
                      <a:rPr lang="en-GB" sz="2200" b="0" i="1" dirty="0" smtClean="0">
                        <a:latin typeface="Cambria Math"/>
                      </a:rPr>
                      <m:t>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/>
                      </a:rPr>
                      <m:t>)</m:t>
                    </m:r>
                  </m:oMath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200" b="0" i="0" dirty="0" smtClean="0">
                          <a:latin typeface="Cambria Math"/>
                        </a:rPr>
                        <m:t>4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𝑞</m:t>
                          </m:r>
                        </m:e>
                      </m:bar>
                      <m:r>
                        <a:rPr lang="en-GB" sz="2200" i="1" dirty="0">
                          <a:latin typeface="Cambria Math"/>
                        </a:rPr>
                        <m:t>+</m:t>
                      </m:r>
                      <m:r>
                        <a:rPr lang="en-GB" sz="2200" b="0" i="1" dirty="0" smtClean="0">
                          <a:latin typeface="Cambria Math"/>
                        </a:rPr>
                        <m:t>4</m:t>
                      </m:r>
                      <m:bar>
                        <m:barPr>
                          <m:ctrlPr>
                            <a:rPr lang="en-GB" sz="22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/>
                            </a:rPr>
                            <m:t>𝑟</m:t>
                          </m:r>
                        </m:e>
                      </m:bar>
                    </m:oMath>
                  </m:oMathPara>
                </a14:m>
                <a:endParaRPr lang="en-GB" sz="2200" dirty="0"/>
              </a:p>
              <a:p>
                <a:pPr marL="0" indent="0" algn="ctr">
                  <a:buNone/>
                </a:pPr>
                <a:endParaRPr lang="en-GB" sz="2200" dirty="0"/>
              </a:p>
              <a:p>
                <a:pPr marL="0" indent="0" algn="ctr">
                  <a:buNone/>
                </a:pPr>
                <a:endParaRPr lang="en-GB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10a</a:t>
                </a:r>
              </a:p>
              <a:p>
                <a:pPr marL="0" indent="0" algn="ctr">
                  <a:buNone/>
                </a:pPr>
                <a:r>
                  <a:rPr lang="en-GB" sz="2200" dirty="0"/>
                  <a:t>14b</a:t>
                </a:r>
              </a:p>
              <a:p>
                <a:pPr marL="0" indent="0" algn="ctr">
                  <a:buNone/>
                </a:pPr>
                <a:r>
                  <a:rPr lang="en-GB" sz="2200" dirty="0"/>
                  <a:t>4(q + r)</a:t>
                </a:r>
              </a:p>
              <a:p>
                <a:pPr marL="0" indent="0" algn="ctr">
                  <a:buNone/>
                </a:pPr>
                <a:endParaRPr lang="en-GB" sz="22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18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0542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971" y="3366145"/>
            <a:ext cx="6866057" cy="2268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Vectors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A vector which has a magnitude of 1 is called a </a:t>
                </a:r>
                <a:r>
                  <a:rPr lang="en-GB" sz="2200" b="1" dirty="0"/>
                  <a:t>unit vector</a:t>
                </a:r>
                <a:r>
                  <a:rPr lang="en-GB" sz="2200" dirty="0"/>
                  <a:t>. 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magnitude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/>
                      </a:rPr>
                      <m:t> </m:t>
                    </m:r>
                    <m:r>
                      <a:rPr lang="en-GB" sz="2200" dirty="0">
                        <a:latin typeface="Cambria Math"/>
                      </a:rPr>
                      <m:t>3</m:t>
                    </m:r>
                  </m:oMath>
                </a14:m>
                <a:r>
                  <a:rPr lang="en-GB" sz="2200" dirty="0"/>
                  <a:t>, then a unit vector in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200" b="0" i="1" dirty="0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GB" sz="2200" b="0" i="1" dirty="0" smtClean="0">
                            <a:latin typeface="Cambria Math"/>
                          </a:rPr>
                          <m:t>3</m:t>
                        </m:r>
                      </m:den>
                    </m:f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A unit vector in the direction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/>
                          </a:rPr>
                          <m:t>𝑎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given the ‘hat’ symbol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bar>
                          <m:barPr>
                            <m:ctrlP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b="0" i="1" dirty="0" smtClean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</m:e>
                    </m:acc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400" dirty="0"/>
                  <a:t>A unit vector can be easily found by dividing a vector by its modulus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bar>
                          <m:barPr>
                            <m:ctrlPr>
                              <a:rPr lang="en-GB" sz="2400" i="1" dirty="0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400" b="0" i="1" dirty="0" smtClean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</m:e>
                    </m:acc>
                  </m:oMath>
                </a14:m>
                <a:r>
                  <a:rPr lang="en-GB" sz="2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bar>
                          <m:barPr>
                            <m:ctrlPr>
                              <a:rPr lang="en-GB" sz="220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b="0" i="1" smtClean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</m:num>
                      <m:den>
                        <m:r>
                          <a:rPr lang="en-GB" sz="2200" b="0" i="1" smtClean="0">
                            <a:latin typeface="Cambria Math"/>
                          </a:rPr>
                          <m:t>|</m:t>
                        </m:r>
                        <m:bar>
                          <m:barPr>
                            <m:ctrlPr>
                              <a:rPr lang="en-GB" sz="22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GB" sz="2200" b="0" i="1" smtClean="0">
                                <a:latin typeface="Cambria Math"/>
                              </a:rPr>
                              <m:t>𝑎</m:t>
                            </m:r>
                          </m:e>
                        </m:bar>
                        <m:r>
                          <a:rPr lang="en-GB" sz="2200" b="0" i="1" smtClean="0">
                            <a:latin typeface="Cambria Math"/>
                          </a:rPr>
                          <m:t>|</m:t>
                        </m:r>
                      </m:den>
                    </m:f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4"/>
                <a:stretch>
                  <a:fillRect l="-959" t="-656" r="-9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22283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Cartesian Components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It is useful to be able to describe vectors with reference to specific coordinate systems, such as the </a:t>
                </a:r>
                <a:r>
                  <a:rPr lang="en-GB" sz="2200" dirty="0">
                    <a:solidFill>
                      <a:srgbClr val="0000FF"/>
                    </a:solidFill>
                  </a:rPr>
                  <a:t>Cartesian</a:t>
                </a:r>
                <a:r>
                  <a:rPr lang="en-GB" sz="2200" dirty="0"/>
                  <a:t> coordinate system. </a:t>
                </a:r>
              </a:p>
              <a:p>
                <a:r>
                  <a:rPr lang="en-GB" sz="2200" dirty="0"/>
                  <a:t>This is possible by defining </a:t>
                </a:r>
                <a:r>
                  <a:rPr lang="en-GB" sz="2200" dirty="0">
                    <a:solidFill>
                      <a:srgbClr val="FF0000"/>
                    </a:solidFill>
                  </a:rPr>
                  <a:t>unit vectors </a:t>
                </a:r>
                <a:r>
                  <a:rPr lang="en-GB" sz="2200" dirty="0"/>
                  <a:t>in the directions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  <m:r>
                      <a:rPr lang="en-GB" sz="2200" i="1" dirty="0" smtClean="0">
                        <a:latin typeface="Cambria Math"/>
                      </a:rPr>
                      <m:t> </m:t>
                    </m:r>
                  </m:oMath>
                </a14:m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axes. </a:t>
                </a:r>
              </a:p>
              <a:p>
                <a:r>
                  <a:rPr lang="en-GB" sz="2200" dirty="0"/>
                  <a:t>Any other vector in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plane can then be represented as a </a:t>
                </a:r>
                <a:r>
                  <a:rPr lang="en-GB" sz="2200" dirty="0">
                    <a:solidFill>
                      <a:srgbClr val="FF0000"/>
                    </a:solidFill>
                  </a:rPr>
                  <a:t>combination</a:t>
                </a:r>
                <a:r>
                  <a:rPr lang="en-GB" sz="2200" dirty="0"/>
                  <a:t> of these </a:t>
                </a:r>
                <a:r>
                  <a:rPr lang="en-GB" sz="2200" i="1" dirty="0">
                    <a:solidFill>
                      <a:srgbClr val="0000FF"/>
                    </a:solidFill>
                  </a:rPr>
                  <a:t>basis vectors</a:t>
                </a:r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The idea is then extended to three dimensional (3D) vectors.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 r="-11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55320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Coordinates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Any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in the plane of the figure can be defined in terms of its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coordinates.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812" t="-6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447" y="1890215"/>
            <a:ext cx="5677106" cy="3777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70736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Vector Conventions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A unit vector pointing in the positive direction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dirty="0"/>
                  <a:t>-axis is denoted by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GB" sz="2200" dirty="0"/>
                  <a:t>. Note that it is common practice to write this particular unit vector without the hat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ˆ</m:t>
                    </m:r>
                  </m:oMath>
                </a14:m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It follows that any vector in the direction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dirty="0"/>
                  <a:t>-axis will be a multiple of </a:t>
                </a:r>
                <a14:m>
                  <m:oMath xmlns:m="http://schemas.openxmlformats.org/officeDocument/2006/math">
                    <m:r>
                      <a:rPr lang="en-GB" sz="2200" i="1" u="sng" dirty="0" smtClean="0">
                        <a:latin typeface="Cambria Math"/>
                      </a:rPr>
                      <m:t>𝑖</m:t>
                    </m:r>
                  </m:oMath>
                </a14:m>
                <a:r>
                  <a:rPr lang="en-GB" sz="2200" dirty="0"/>
                  <a:t>. In general a vector of length 𝑙 in the direction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GB" sz="2200" dirty="0"/>
                  <a:t>-axis can be written </a:t>
                </a:r>
                <a14:m>
                  <m:oMath xmlns:m="http://schemas.openxmlformats.org/officeDocument/2006/math">
                    <m:r>
                      <a:rPr lang="en-GB" sz="2200" b="0" i="1" smtClean="0">
                        <a:latin typeface="Cambria Math"/>
                      </a:rPr>
                      <m:t>𝑙</m:t>
                    </m:r>
                    <m:bar>
                      <m:barPr>
                        <m:ctrlPr>
                          <a:rPr lang="en-GB" sz="2200" b="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/>
                          </a:rPr>
                          <m:t>𝑖</m:t>
                        </m:r>
                      </m:e>
                    </m:bar>
                  </m:oMath>
                </a14:m>
                <a:endParaRPr lang="en-GB" sz="2200" u="sng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1669" r="-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575" y="3206796"/>
            <a:ext cx="4514850" cy="249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1822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Vector Conventions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Similarly, a </a:t>
                </a:r>
                <a:r>
                  <a:rPr lang="en-GB" sz="2200" dirty="0">
                    <a:solidFill>
                      <a:srgbClr val="FF0000"/>
                    </a:solidFill>
                  </a:rPr>
                  <a:t>unit vector </a:t>
                </a:r>
                <a:r>
                  <a:rPr lang="en-GB" sz="2200" dirty="0"/>
                  <a:t>pointing in the positive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0" dirty="0"/>
                  <a:t>-axis is denoted by</a:t>
                </a:r>
                <a14:m>
                  <m:oMath xmlns:m="http://schemas.openxmlformats.org/officeDocument/2006/math">
                    <m:r>
                      <a:rPr lang="en-GB" sz="2200" dirty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 Then, any vector in the direction of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0" dirty="0"/>
                  <a:t>-axis will be a multiple of</a:t>
                </a:r>
                <a14:m>
                  <m:oMath xmlns:m="http://schemas.openxmlformats.org/officeDocument/2006/math">
                    <m:r>
                      <a:rPr lang="en-GB" sz="2200" dirty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 The diagram shows</a:t>
                </a:r>
                <a14:m>
                  <m:oMath xmlns:m="http://schemas.openxmlformats.org/officeDocument/2006/math">
                    <m:r>
                      <a:rPr lang="en-GB" sz="2200" dirty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a:rPr lang="en-GB" sz="2200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GB" sz="2200" dirty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 In general a vector of length</a:t>
                </a:r>
                <a:r>
                  <a:rPr lang="en-GB" sz="2200" i="1" dirty="0"/>
                  <a:t> </a:t>
                </a:r>
                <a:r>
                  <a:rPr lang="en-GB" sz="2200" dirty="0"/>
                  <a:t>in the direction of the </a:t>
                </a:r>
                <a:r>
                  <a:rPr lang="en-GB" sz="2200" i="1" dirty="0"/>
                  <a:t>y</a:t>
                </a:r>
                <a:r>
                  <a:rPr lang="en-GB" sz="2200" dirty="0"/>
                  <a:t>-axis can be written</a:t>
                </a:r>
                <a14:m>
                  <m:oMath xmlns:m="http://schemas.openxmlformats.org/officeDocument/2006/math">
                    <m:r>
                      <a:rPr lang="en-GB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200" i="1">
                        <a:latin typeface="Cambria Math"/>
                      </a:rPr>
                      <m:t>𝑙</m:t>
                    </m:r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736" y="2607338"/>
            <a:ext cx="3334528" cy="302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60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Vectors: Key Points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represents a unit vector in the direction of the positive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200" dirty="0"/>
                  <a:t>-axis</a:t>
                </a:r>
              </a:p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represents a unit vector in the direction of the positive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0" dirty="0"/>
                  <a:t>-axis</a:t>
                </a:r>
              </a:p>
              <a:p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represents a unit vector in the direction of the positive 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GB" sz="2200" dirty="0"/>
                  <a:t>-axis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Draw the vectors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 Use your diagram and the triangle law of addition to add these two vectors together. First draw the vectors </a:t>
                </a:r>
                <a14:m>
                  <m:oMath xmlns:m="http://schemas.openxmlformats.org/officeDocument/2006/math">
                    <m:r>
                      <a:rPr lang="en-GB" sz="2200" dirty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dirty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 Then, by translating the vectors so that they lie head to tail, find the vector sum </a:t>
                </a:r>
                <a14:m>
                  <m:oMath xmlns:m="http://schemas.openxmlformats.org/officeDocument/2006/math">
                    <m:r>
                      <a:rPr lang="en-GB" sz="2200" dirty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dirty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1530" r="-6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1615F77-A0CF-21EC-7519-658C7A67FE5A}"/>
              </a:ext>
            </a:extLst>
          </p:cNvPr>
          <p:cNvCxnSpPr/>
          <p:nvPr/>
        </p:nvCxnSpPr>
        <p:spPr>
          <a:xfrm>
            <a:off x="826718" y="4597052"/>
            <a:ext cx="0" cy="21670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E36F1A-1FD4-74BA-8B4A-FFD235D616CC}"/>
              </a:ext>
            </a:extLst>
          </p:cNvPr>
          <p:cNvCxnSpPr/>
          <p:nvPr/>
        </p:nvCxnSpPr>
        <p:spPr>
          <a:xfrm>
            <a:off x="851770" y="6858000"/>
            <a:ext cx="47849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BDDF1D8-7095-974D-0F44-A618FA36F34F}"/>
              </a:ext>
            </a:extLst>
          </p:cNvPr>
          <p:cNvCxnSpPr>
            <a:cxnSpLocks/>
          </p:cNvCxnSpPr>
          <p:nvPr/>
        </p:nvCxnSpPr>
        <p:spPr>
          <a:xfrm flipH="1">
            <a:off x="826718" y="5073041"/>
            <a:ext cx="4684734" cy="17849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859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Unit Vectors: Key Points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200" dirty="0"/>
                  <a:t>We conclude that any vector in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plane can be expressed in the form: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bar>
                      <m:r>
                        <a:rPr lang="en-GB" sz="22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2200" i="1" dirty="0" err="1">
                          <a:latin typeface="Cambria Math" panose="02040503050406030204" pitchFamily="18" charset="0"/>
                        </a:rPr>
                        <m:t>𝑎</m:t>
                      </m:r>
                      <m:bar>
                        <m:bar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200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GB" sz="2200" i="1" dirty="0" err="1">
                          <a:latin typeface="Cambria Math" panose="02040503050406030204" pitchFamily="18" charset="0"/>
                        </a:rPr>
                        <m:t>𝑏</m:t>
                      </m:r>
                      <m:bar>
                        <m:barPr>
                          <m:ctrlPr>
                            <a:rPr lang="en-GB" sz="22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200" b="0" i="1" dirty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bar>
                    </m:oMath>
                  </m:oMathPara>
                </a14:m>
                <a:endParaRPr lang="en-GB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sz="22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200" dirty="0"/>
                  <a:t> </a:t>
                </a:r>
                <a:r>
                  <a:rPr lang="en-GB" sz="2200" dirty="0">
                    <a:solidFill>
                      <a:srgbClr val="FF0000"/>
                    </a:solidFill>
                  </a:rPr>
                  <a:t>column vector notation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16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4870" y="2855509"/>
            <a:ext cx="4094260" cy="2755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5532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sz="2200" dirty="0"/>
                  <a:t>Draw an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𝑥𝑦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plane and show the vectors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,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Express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2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 using column vector notation. </a:t>
                </a:r>
                <a:r>
                  <a:rPr lang="en-GB" sz="2200" b="1" dirty="0"/>
                  <a:t>P</a:t>
                </a:r>
                <a:r>
                  <a:rPr lang="en-GB" sz="2200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200" dirty="0"/>
                  <a:t> </a:t>
                </a:r>
              </a:p>
              <a:p>
                <a:pPr marL="0" indent="0">
                  <a:buNone/>
                </a:pPr>
                <a:r>
                  <a:rPr lang="en-GB" sz="2200" b="1" dirty="0"/>
                  <a:t>q </a:t>
                </a:r>
                <a:r>
                  <a:rPr lang="en-GB" sz="2200" dirty="0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lang="en-GB" sz="2200" dirty="0"/>
                  <a:t> </a:t>
                </a:r>
              </a:p>
              <a:p>
                <a:r>
                  <a:rPr lang="en-GB" sz="2200" dirty="0"/>
                  <a:t>By translating one of the vectors apply the triangle law to show the sum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.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Express the resultant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bar>
                  </m:oMath>
                </a14:m>
                <a:r>
                  <a:rPr lang="en-GB" sz="2200" dirty="0"/>
                  <a:t> in terms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200" dirty="0"/>
                  <a:t>and</a:t>
                </a:r>
                <a14:m>
                  <m:oMath xmlns:m="http://schemas.openxmlformats.org/officeDocument/2006/math">
                    <m:r>
                      <a:rPr lang="en-GB" sz="2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sz="2200" dirty="0"/>
                  <a:t>. 7i + 4j</a:t>
                </a:r>
              </a:p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9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8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+3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 find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= 17i + 10j</a:t>
                </a:r>
              </a:p>
              <a:p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bar>
                  </m:oMath>
                </a14:m>
                <a:r>
                  <a:rPr lang="en-GB" sz="2200" dirty="0"/>
                  <a:t> = 1i + 4j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3" t="-2086" r="-6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AFF827D-7C14-9092-C41E-CDB4462B7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764" y="1550015"/>
            <a:ext cx="1047780" cy="804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C3CA7B-835E-C21D-B6AA-560AB4720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518" y="3729161"/>
            <a:ext cx="1164776" cy="937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835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sz="2200" dirty="0"/>
                  <a:t>Now consider the special case when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represents the vector from the origin to the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This vector is known as the </a:t>
                </a:r>
                <a:r>
                  <a:rPr lang="en-GB" sz="2200" b="1" dirty="0">
                    <a:solidFill>
                      <a:srgbClr val="FF0000"/>
                    </a:solidFill>
                  </a:rPr>
                  <a:t>position vector</a:t>
                </a:r>
                <a:r>
                  <a:rPr lang="en-GB" sz="2200" b="1" dirty="0"/>
                  <a:t> </a:t>
                </a:r>
                <a:r>
                  <a:rPr lang="en-GB" sz="2200" dirty="0"/>
                  <a:t>of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endParaRPr lang="en-GB" sz="2200" dirty="0"/>
              </a:p>
              <a:p>
                <a:r>
                  <a:rPr lang="en-GB" sz="2200" dirty="0"/>
                  <a:t>Position vector of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with coordinates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200" dirty="0"/>
                  <a:t> is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𝑂𝑃</m:t>
                        </m:r>
                      </m:e>
                    </m:acc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2225" r="-9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933" y="2329070"/>
            <a:ext cx="3852133" cy="273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736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Position Vector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State the position vectors of the points with coordinates </a:t>
            </a:r>
          </a:p>
          <a:p>
            <a:pPr lvl="1"/>
            <a:r>
              <a:rPr lang="en-GB" sz="1800" i="1" dirty="0"/>
              <a:t>P</a:t>
            </a:r>
            <a:r>
              <a:rPr lang="en-GB" sz="1800" dirty="0"/>
              <a:t>(2</a:t>
            </a:r>
            <a:r>
              <a:rPr lang="en-GB" sz="1800" i="1" dirty="0"/>
              <a:t>, </a:t>
            </a:r>
            <a:r>
              <a:rPr lang="en-GB" sz="1800" dirty="0"/>
              <a:t>4) = 2i + 4j</a:t>
            </a:r>
          </a:p>
          <a:p>
            <a:pPr lvl="1"/>
            <a:r>
              <a:rPr lang="en-GB" sz="1800" i="1" dirty="0"/>
              <a:t>Q</a:t>
            </a:r>
            <a:r>
              <a:rPr lang="en-GB" sz="1800" dirty="0"/>
              <a:t>(</a:t>
            </a:r>
            <a:r>
              <a:rPr lang="en-GB" sz="1800" i="1" dirty="0"/>
              <a:t>−</a:t>
            </a:r>
            <a:r>
              <a:rPr lang="en-GB" sz="1800" dirty="0"/>
              <a:t>1</a:t>
            </a:r>
            <a:r>
              <a:rPr lang="en-GB" sz="1800" i="1" dirty="0"/>
              <a:t>, </a:t>
            </a:r>
            <a:r>
              <a:rPr lang="en-GB" sz="1800" dirty="0"/>
              <a:t>5) = -1i + 5j</a:t>
            </a:r>
          </a:p>
          <a:p>
            <a:pPr lvl="1"/>
            <a:r>
              <a:rPr lang="pt-BR" sz="1800" i="1" dirty="0"/>
              <a:t>R</a:t>
            </a:r>
            <a:r>
              <a:rPr lang="pt-BR" sz="1800" dirty="0"/>
              <a:t>(</a:t>
            </a:r>
            <a:r>
              <a:rPr lang="pt-BR" sz="1800" i="1" dirty="0"/>
              <a:t>−</a:t>
            </a:r>
            <a:r>
              <a:rPr lang="pt-BR" sz="1800" dirty="0"/>
              <a:t>1</a:t>
            </a:r>
            <a:r>
              <a:rPr lang="pt-BR" sz="1800" i="1" dirty="0"/>
              <a:t>,−</a:t>
            </a:r>
            <a:r>
              <a:rPr lang="pt-BR" sz="1800" dirty="0"/>
              <a:t>7) = -1i -7j</a:t>
            </a:r>
          </a:p>
          <a:p>
            <a:pPr lvl="1"/>
            <a:r>
              <a:rPr lang="pt-BR" sz="1800" i="1" dirty="0"/>
              <a:t>S</a:t>
            </a:r>
            <a:r>
              <a:rPr lang="pt-BR" sz="1800" dirty="0"/>
              <a:t>(8</a:t>
            </a:r>
            <a:r>
              <a:rPr lang="pt-BR" sz="1800" i="1" dirty="0"/>
              <a:t>,−</a:t>
            </a:r>
            <a:r>
              <a:rPr lang="pt-BR" sz="1800" dirty="0"/>
              <a:t>4) = 8i -4j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4692708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Position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State the position vectors of the points with coordinates </a:t>
                </a:r>
              </a:p>
              <a:p>
                <a:pPr lvl="1"/>
                <a:r>
                  <a:rPr lang="en-GB" sz="1800" i="1" dirty="0"/>
                  <a:t>P</a:t>
                </a:r>
                <a:r>
                  <a:rPr lang="en-GB" sz="1800" dirty="0"/>
                  <a:t>(2</a:t>
                </a:r>
                <a:r>
                  <a:rPr lang="en-GB" sz="1800" i="1" dirty="0"/>
                  <a:t>, </a:t>
                </a:r>
                <a:r>
                  <a:rPr lang="en-GB" sz="1800" dirty="0"/>
                  <a:t>4) </a:t>
                </a:r>
                <a14:m>
                  <m:oMath xmlns:m="http://schemas.openxmlformats.org/officeDocument/2006/math">
                    <m:r>
                      <a:rPr lang="en-GB" sz="1800" b="0" i="0" dirty="0" smtClean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𝑂𝑃</m:t>
                        </m:r>
                      </m:e>
                    </m:acc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1800" dirty="0"/>
              </a:p>
              <a:p>
                <a:pPr lvl="1"/>
                <a:r>
                  <a:rPr lang="en-GB" sz="1800" i="1" dirty="0"/>
                  <a:t>Q</a:t>
                </a:r>
                <a:r>
                  <a:rPr lang="en-GB" sz="1800" dirty="0"/>
                  <a:t>(</a:t>
                </a:r>
                <a:r>
                  <a:rPr lang="en-GB" sz="1800" i="1" dirty="0"/>
                  <a:t>−</a:t>
                </a:r>
                <a:r>
                  <a:rPr lang="en-GB" sz="1800" dirty="0"/>
                  <a:t>1</a:t>
                </a:r>
                <a:r>
                  <a:rPr lang="en-GB" sz="1800" i="1" dirty="0"/>
                  <a:t>, </a:t>
                </a:r>
                <a:r>
                  <a:rPr lang="en-GB" sz="1800" dirty="0"/>
                  <a:t>5) </a:t>
                </a:r>
                <a14:m>
                  <m:oMath xmlns:m="http://schemas.openxmlformats.org/officeDocument/2006/math">
                    <m:r>
                      <a:rPr lang="en-GB" sz="1800" dirty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1800" dirty="0"/>
              </a:p>
              <a:p>
                <a:pPr lvl="1"/>
                <a:r>
                  <a:rPr lang="pt-BR" sz="1800" i="1" dirty="0"/>
                  <a:t>R</a:t>
                </a:r>
                <a:r>
                  <a:rPr lang="pt-BR" sz="1800" dirty="0"/>
                  <a:t>(</a:t>
                </a:r>
                <a:r>
                  <a:rPr lang="pt-BR" sz="1800" i="1" dirty="0"/>
                  <a:t>−</a:t>
                </a:r>
                <a:r>
                  <a:rPr lang="pt-BR" sz="1800" dirty="0"/>
                  <a:t>1</a:t>
                </a:r>
                <a:r>
                  <a:rPr lang="pt-BR" sz="1800" i="1" dirty="0"/>
                  <a:t>,−</a:t>
                </a:r>
                <a:r>
                  <a:rPr lang="pt-BR" sz="1800" dirty="0"/>
                  <a:t>7</a:t>
                </a:r>
                <a:r>
                  <a:rPr lang="en-GB" sz="1800" dirty="0"/>
                  <a:t>) </a:t>
                </a:r>
                <a14:m>
                  <m:oMath xmlns:m="http://schemas.openxmlformats.org/officeDocument/2006/math">
                    <m:r>
                      <a:rPr lang="en-GB" sz="1800" dirty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−7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pt-BR" sz="1800" dirty="0"/>
              </a:p>
              <a:p>
                <a:pPr lvl="1"/>
                <a:r>
                  <a:rPr lang="pt-BR" sz="1800" i="1" dirty="0"/>
                  <a:t>S</a:t>
                </a:r>
                <a:r>
                  <a:rPr lang="pt-BR" sz="1800" dirty="0"/>
                  <a:t>(8</a:t>
                </a:r>
                <a:r>
                  <a:rPr lang="pt-BR" sz="1800" i="1" dirty="0"/>
                  <a:t>,−</a:t>
                </a:r>
                <a:r>
                  <a:rPr lang="pt-BR" sz="1800" dirty="0"/>
                  <a:t>4</a:t>
                </a:r>
                <a:r>
                  <a:rPr lang="en-GB" sz="1800" dirty="0"/>
                  <a:t>) </a:t>
                </a:r>
                <a14:m>
                  <m:oMath xmlns:m="http://schemas.openxmlformats.org/officeDocument/2006/math">
                    <m:r>
                      <a:rPr lang="en-GB" sz="1800" dirty="0">
                        <a:latin typeface="Cambria Math" panose="02040503050406030204" pitchFamily="18" charset="0"/>
                      </a:rPr>
                      <m:t>=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8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endParaRPr lang="en-GB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78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112116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Modulus of a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The </a:t>
                </a:r>
                <a:r>
                  <a:rPr lang="en-GB" sz="2200" b="1" dirty="0"/>
                  <a:t>modulus </a:t>
                </a:r>
                <a:r>
                  <a:rPr lang="en-GB" sz="2200" dirty="0"/>
                  <a:t>of any vector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equal to its length. </a:t>
                </a:r>
              </a:p>
              <a:p>
                <a:r>
                  <a:rPr lang="en-GB" sz="2200" dirty="0"/>
                  <a:t>As we have noted earlier the modulus of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denoted by </a:t>
                </a:r>
                <a14:m>
                  <m:oMath xmlns:m="http://schemas.openxmlformats.org/officeDocument/2006/math">
                    <m:r>
                      <a:rPr lang="en-GB" sz="2200" b="0" i="0" dirty="0" smtClean="0">
                        <a:latin typeface="Cambria Math" panose="02040503050406030204" pitchFamily="18" charset="0"/>
                      </a:rPr>
                      <m:t>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2200" dirty="0"/>
                  <a:t>. </a:t>
                </a:r>
              </a:p>
              <a:p>
                <a:r>
                  <a:rPr lang="en-GB" sz="2200" dirty="0"/>
                  <a:t>When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the modulus can be obtained using Pythagoras’ theorem. </a:t>
                </a:r>
              </a:p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is the position vector of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then the modulus is clearly the distance of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from the origin.</a:t>
                </a:r>
              </a:p>
              <a:p>
                <a:endParaRPr lang="en-GB" sz="2200" dirty="0"/>
              </a:p>
              <a:p>
                <a:pPr marL="0" indent="0" algn="ctr">
                  <a:buNone/>
                </a:pPr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2200" dirty="0"/>
                  <a:t>, then </a:t>
                </a:r>
                <a14:m>
                  <m:oMath xmlns:m="http://schemas.openxmlformats.org/officeDocument/2006/math">
                    <m:r>
                      <a:rPr lang="en-GB" sz="2200" dirty="0">
                        <a:latin typeface="Cambria Math" panose="02040503050406030204" pitchFamily="18" charset="0"/>
                      </a:rPr>
                      <m:t>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sz="22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919" r="-81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9029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Modulus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sz="2200" dirty="0"/>
                  <a:t>Find the </a:t>
                </a:r>
                <a:r>
                  <a:rPr lang="pt-BR" sz="2200" dirty="0">
                    <a:solidFill>
                      <a:srgbClr val="FF0000"/>
                    </a:solidFill>
                  </a:rPr>
                  <a:t>modulus</a:t>
                </a:r>
                <a:r>
                  <a:rPr lang="pt-BR" sz="2200" dirty="0"/>
                  <a:t> of the </a:t>
                </a:r>
                <a:r>
                  <a:rPr lang="pt-BR" sz="2200" dirty="0">
                    <a:solidFill>
                      <a:srgbClr val="0000FF"/>
                    </a:solidFill>
                  </a:rPr>
                  <a:t>position vectors </a:t>
                </a:r>
              </a:p>
              <a:p>
                <a:pPr lvl="1"/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pt-BR" sz="1800" i="1" dirty="0"/>
                  <a:t> = 5</a:t>
                </a:r>
              </a:p>
              <a:p>
                <a:pPr lvl="1"/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5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pt-BR" sz="1800" i="1" dirty="0"/>
                  <a:t> = 4.58257569496</a:t>
                </a:r>
              </a:p>
              <a:p>
                <a:pPr lvl="1"/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1800" dirty="0"/>
                  <a:t> = </a:t>
                </a:r>
                <a:r>
                  <a:rPr lang="en-GB" dirty="0"/>
                  <a:t>3.6055512755</a:t>
                </a:r>
                <a:endParaRPr lang="en-GB"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18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03525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3D Coordinate Frames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200" dirty="0"/>
              <a:t>Vectors can be used to describe points, lines, and planes in three dimensions. These mathematical foundations underpin much of the technology associated with computer graphics.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6196" y="2269143"/>
            <a:ext cx="5591608" cy="336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161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3D Coordinate Frames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sz="2200" dirty="0"/>
                  <a:t>Just as in two-dimensions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axes are perpendicular, in three dimensions the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axes are all perpendicular to each other. </a:t>
                </a:r>
              </a:p>
              <a:p>
                <a:r>
                  <a:rPr lang="en-GB" sz="2200" dirty="0"/>
                  <a:t>We say they are </a:t>
                </a:r>
                <a:r>
                  <a:rPr lang="en-GB" sz="2200" b="1" dirty="0"/>
                  <a:t>mutually perpendicular.</a:t>
                </a:r>
              </a:p>
              <a:p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coordinates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GB" sz="2200" dirty="0"/>
                  <a:t>then its </a:t>
                </a:r>
                <a:r>
                  <a:rPr lang="en-GB" sz="2200" dirty="0">
                    <a:solidFill>
                      <a:srgbClr val="0000FF"/>
                    </a:solidFill>
                  </a:rPr>
                  <a:t>position vector</a:t>
                </a:r>
                <a:r>
                  <a:rPr lang="en-GB" sz="2200" dirty="0"/>
                  <a:t> is:</a:t>
                </a:r>
              </a:p>
              <a:p>
                <a:endParaRPr lang="en-GB" sz="2200" b="1" dirty="0"/>
              </a:p>
              <a:p>
                <a:endParaRPr lang="en-GB" sz="22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ar>
                        <m:barPr>
                          <m:ctrlPr>
                            <a:rPr lang="en-GB" sz="2400" i="1" dirty="0" smtClean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ba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𝑂𝑃</m:t>
                          </m:r>
                        </m:e>
                      </m:acc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bar>
                      <m:r>
                        <a:rPr lang="en-GB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bar>
                      <m:r>
                        <a:rPr lang="en-GB" sz="2400" b="0" i="0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bar>
                        <m:barPr>
                          <m:ctrlPr>
                            <a:rPr lang="en-GB" sz="2400" i="1" dirty="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a:rPr lang="en-GB" sz="24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bar>
                    </m:oMath>
                  </m:oMathPara>
                </a14:m>
                <a:endParaRPr lang="en-GB" sz="2400" dirty="0"/>
              </a:p>
              <a:p>
                <a:pPr marL="0" indent="0" algn="ctr">
                  <a:buNone/>
                </a:pPr>
                <a:r>
                  <a:rPr lang="en-GB" sz="2200" dirty="0">
                    <a:solidFill>
                      <a:srgbClr val="FF0000"/>
                    </a:solidFill>
                  </a:rPr>
                  <a:t>and</a:t>
                </a:r>
              </a:p>
              <a:p>
                <a:pPr marL="0" indent="0" algn="ctr">
                  <a:buNone/>
                </a:pPr>
                <a:r>
                  <a:rPr lang="en-GB" sz="2200" dirty="0"/>
                  <a:t>If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2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200" i="1" dirty="0">
                        <a:latin typeface="Cambria Math" panose="02040503050406030204" pitchFamily="18" charset="0"/>
                      </a:rPr>
                      <m:t>𝑐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, then </a:t>
                </a:r>
                <a14:m>
                  <m:oMath xmlns:m="http://schemas.openxmlformats.org/officeDocument/2006/math">
                    <m:r>
                      <a:rPr lang="en-GB" sz="2200" dirty="0">
                        <a:latin typeface="Cambria Math" panose="02040503050406030204" pitchFamily="18" charset="0"/>
                      </a:rPr>
                      <m:t>|</m:t>
                    </m:r>
                    <m:bar>
                      <m:barPr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2200" i="1" dirty="0">
                        <a:latin typeface="Cambria Math" panose="02040503050406030204" pitchFamily="18" charset="0"/>
                      </a:rPr>
                      <m:t>|=</m:t>
                    </m:r>
                    <m:rad>
                      <m:radPr>
                        <m:degHide m:val="on"/>
                        <m:ctrlPr>
                          <a:rPr lang="en-GB" sz="2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i="1" dirty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sz="22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200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GB" sz="22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GB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50" t="-1669" r="-14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80429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GB" sz="2200" dirty="0"/>
                  <a:t>Explain the distinction between a </a:t>
                </a:r>
                <a:r>
                  <a:rPr lang="en-GB" sz="2200" dirty="0">
                    <a:solidFill>
                      <a:srgbClr val="FF0000"/>
                    </a:solidFill>
                  </a:rPr>
                  <a:t>position vector</a:t>
                </a:r>
                <a:r>
                  <a:rPr lang="en-GB" sz="2200" dirty="0"/>
                  <a:t>, and a more </a:t>
                </a:r>
                <a:r>
                  <a:rPr lang="en-GB" sz="2200" dirty="0">
                    <a:solidFill>
                      <a:srgbClr val="0000FF"/>
                    </a:solidFill>
                  </a:rPr>
                  <a:t>general</a:t>
                </a:r>
                <a:r>
                  <a:rPr lang="en-GB" sz="2200" dirty="0"/>
                  <a:t>, or</a:t>
                </a:r>
                <a:r>
                  <a:rPr lang="en-GB" sz="2200" dirty="0">
                    <a:solidFill>
                      <a:srgbClr val="0000FF"/>
                    </a:solidFill>
                  </a:rPr>
                  <a:t> free vector</a:t>
                </a:r>
                <a:r>
                  <a:rPr lang="en-GB" sz="2200" dirty="0"/>
                  <a:t>. A position vector describes a point in space from the origin of the coordinate system OP and general or free vectors describe a direction and magnitude</a:t>
                </a:r>
              </a:p>
              <a:p>
                <a:endParaRPr lang="en-GB" sz="2200" dirty="0"/>
              </a:p>
              <a:p>
                <a:r>
                  <a:rPr lang="en-GB" sz="2200" dirty="0"/>
                  <a:t>What is meant by the symbols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bar>
                      <m:barPr>
                        <m:ctrlPr>
                          <a:rPr lang="en-GB" sz="2000" i="1" dirty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b="0" i="0" dirty="0">
                    <a:latin typeface="+mj-lt"/>
                  </a:rPr>
                  <a:t>and</a:t>
                </a:r>
                <a14:m>
                  <m:oMath xmlns:m="http://schemas.openxmlformats.org/officeDocument/2006/math"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2200" dirty="0"/>
                  <a:t>? I is a unit vector in the x axis, j is a unit vector in the y axis and k is a unit vector in the z axis</a:t>
                </a:r>
              </a:p>
              <a:p>
                <a:r>
                  <a:rPr lang="en-GB" sz="2200" dirty="0"/>
                  <a:t>State the position vectors of the points with coordinates </a:t>
                </a:r>
              </a:p>
              <a:p>
                <a:pPr lvl="1"/>
                <a:r>
                  <a:rPr lang="en-GB" sz="1800" dirty="0"/>
                  <a:t>a)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(4, 7)</m:t>
                    </m:r>
                  </m:oMath>
                </a14:m>
                <a:r>
                  <a:rPr lang="en-GB" sz="1800" dirty="0"/>
                  <a:t> = 4i + 7j</a:t>
                </a:r>
              </a:p>
              <a:p>
                <a:pPr lvl="1"/>
                <a:r>
                  <a:rPr lang="en-GB" sz="1800" dirty="0"/>
                  <a:t>b)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GB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−3, 5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=−3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sz="1800" dirty="0"/>
              </a:p>
              <a:p>
                <a:pPr lvl="1"/>
                <a:r>
                  <a:rPr lang="en-GB" sz="1800" dirty="0"/>
                  <a:t>c)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0, 3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sz="1800" dirty="0"/>
              </a:p>
              <a:p>
                <a:pPr lvl="1"/>
                <a:r>
                  <a:rPr lang="en-GB" sz="1800" dirty="0"/>
                  <a:t>d)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GB" sz="18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800" i="1" dirty="0" smtClean="0">
                            <a:latin typeface="Cambria Math" panose="02040503050406030204" pitchFamily="18" charset="0"/>
                          </a:rPr>
                          <m:t>−1, 0</m:t>
                        </m:r>
                      </m:e>
                    </m:d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=−1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GB" sz="1800" dirty="0"/>
              </a:p>
              <a:p>
                <a:r>
                  <a:rPr lang="en-GB" sz="2200" dirty="0"/>
                  <a:t>State the coordinates of the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if its position vector is </a:t>
                </a:r>
              </a:p>
              <a:p>
                <a:pPr lvl="1"/>
                <a:r>
                  <a:rPr lang="en-GB" sz="1800" dirty="0"/>
                  <a:t>a)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−7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en-GB" sz="1800" dirty="0"/>
                  <a:t> = (3, -7)</a:t>
                </a:r>
              </a:p>
              <a:p>
                <a:pPr lvl="1"/>
                <a:r>
                  <a:rPr lang="en-GB" sz="1800" dirty="0"/>
                  <a:t>b)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−4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en-GB" sz="1800" i="1" dirty="0">
                    <a:latin typeface="Cambria Math" panose="02040503050406030204" pitchFamily="18" charset="0"/>
                  </a:rPr>
                  <a:t> = (-4, 0)</a:t>
                </a:r>
              </a:p>
              <a:p>
                <a:pPr lvl="1"/>
                <a:r>
                  <a:rPr lang="it-IT" sz="1800" dirty="0"/>
                  <a:t>c)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13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=(−0.5, 13)</m:t>
                    </m:r>
                  </m:oMath>
                </a14:m>
                <a:endParaRPr lang="it-IT" sz="1800" dirty="0"/>
              </a:p>
              <a:p>
                <a:pPr lvl="1"/>
                <a:r>
                  <a:rPr lang="it-IT" sz="1800" dirty="0"/>
                  <a:t>d)</a:t>
                </a:r>
                <a:r>
                  <a:rPr lang="it-IT" sz="1800" i="1" dirty="0"/>
                  <a:t> </a:t>
                </a:r>
                <a14:m>
                  <m:oMath xmlns:m="http://schemas.openxmlformats.org/officeDocument/2006/math">
                    <m:r>
                      <a:rPr lang="en-GB" sz="1800" i="1" dirty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𝑐</m:t>
                    </m:r>
                    <m:bar>
                      <m:barPr>
                        <m:ctrlPr>
                          <a:rPr lang="en-GB" sz="16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6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it-IT" sz="1800" i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86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6279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GB" sz="2200" dirty="0"/>
                  <a:t>Find the </a:t>
                </a:r>
                <a:r>
                  <a:rPr lang="en-GB" sz="2200" dirty="0">
                    <a:solidFill>
                      <a:srgbClr val="0000FF"/>
                    </a:solidFill>
                  </a:rPr>
                  <a:t>modulus</a:t>
                </a:r>
                <a:r>
                  <a:rPr lang="en-GB" sz="2200" dirty="0"/>
                  <a:t> of each of the following vectors.</a:t>
                </a:r>
              </a:p>
              <a:p>
                <a:pPr lvl="1"/>
                <a:r>
                  <a:rPr lang="pt-BR" sz="1800" dirty="0"/>
                  <a:t>a)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pt-BR" sz="1800" dirty="0"/>
                  <a:t> = 7.61577310586</a:t>
                </a:r>
              </a:p>
              <a:p>
                <a:pPr lvl="1"/>
                <a:r>
                  <a:rPr lang="pt-BR" sz="1800" dirty="0"/>
                  <a:t>b)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17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</m:oMath>
                </a14:m>
                <a:r>
                  <a:rPr lang="pt-BR" sz="1800" dirty="0"/>
                  <a:t> = 17</a:t>
                </a:r>
              </a:p>
              <a:p>
                <a:pPr lvl="1"/>
                <a:r>
                  <a:rPr lang="pt-BR" sz="1800" dirty="0"/>
                  <a:t>c)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pt-BR" sz="1800" dirty="0"/>
                  <a:t> = 3.60555127546</a:t>
                </a:r>
              </a:p>
              <a:p>
                <a:pPr lvl="1"/>
                <a:r>
                  <a:rPr lang="pt-BR" sz="1800" dirty="0"/>
                  <a:t>d)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pt-BR" sz="1800" dirty="0"/>
                  <a:t> = 3</a:t>
                </a:r>
              </a:p>
              <a:p>
                <a:pPr lvl="1"/>
                <a:r>
                  <a:rPr lang="pt-BR" sz="1800" dirty="0"/>
                  <a:t>e)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𝑐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pt-BR" sz="1800" dirty="0"/>
                  <a:t> = sqrt(a^2 + b^2 + c^2)</a:t>
                </a:r>
              </a:p>
              <a:p>
                <a:pPr lvl="1"/>
                <a:r>
                  <a:rPr lang="pt-BR" sz="1800" dirty="0"/>
                  <a:t>f)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</m:oMath>
                </a14:m>
                <a:r>
                  <a:rPr lang="pt-BR" sz="1800" i="1" dirty="0"/>
                  <a:t> = sqrt(a^2 + b^2)</a:t>
                </a:r>
              </a:p>
              <a:p>
                <a:r>
                  <a:rPr lang="en-GB" sz="2200" dirty="0"/>
                  <a:t>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coordinates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(7,8)</m:t>
                    </m:r>
                  </m:oMath>
                </a14:m>
                <a:r>
                  <a:rPr lang="en-GB" sz="2200" dirty="0"/>
                  <a:t>.Point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has coordinates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(−2, 4)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pPr lvl="1"/>
                <a:r>
                  <a:rPr lang="en-GB" sz="1800" dirty="0"/>
                  <a:t>a) Draw a sketch showing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800" i="1" dirty="0"/>
                  <a:t> </a:t>
                </a:r>
                <a:r>
                  <a:rPr lang="en-GB" sz="1800" dirty="0"/>
                  <a:t>and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GB" sz="1800" i="1" dirty="0"/>
              </a:p>
              <a:p>
                <a:pPr lvl="1"/>
                <a:r>
                  <a:rPr lang="en-GB" sz="1800" dirty="0"/>
                  <a:t>b) State the position vectors of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800" i="1" dirty="0"/>
                  <a:t> = 7i + 8j</a:t>
                </a:r>
              </a:p>
              <a:p>
                <a:pPr lvl="1"/>
                <a:r>
                  <a:rPr lang="en-GB" sz="1800" dirty="0"/>
                  <a:t>and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GB" sz="1800" dirty="0"/>
              </a:p>
              <a:p>
                <a:pPr lvl="1"/>
                <a:r>
                  <a:rPr lang="en-GB" sz="1800" dirty="0"/>
                  <a:t>c) Find an expression for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</m:oMath>
                </a14:m>
                <a:r>
                  <a:rPr lang="en-GB" sz="1800" i="1" dirty="0"/>
                  <a:t> = P - Q</a:t>
                </a:r>
              </a:p>
              <a:p>
                <a:pPr lvl="1"/>
                <a:r>
                  <a:rPr lang="en-GB" sz="1800" dirty="0"/>
                  <a:t>d) Find </a:t>
                </a:r>
                <a14:m>
                  <m:oMath xmlns:m="http://schemas.openxmlformats.org/officeDocument/2006/math"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GB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1800" dirty="0"/>
                  <a:t> = (7i + 8j) – (-2i + 4j) = 9i + 4j </a:t>
                </a:r>
              </a:p>
              <a:p>
                <a:pPr marL="457200" lvl="1" indent="0">
                  <a:buNone/>
                </a:pPr>
                <a:r>
                  <a:rPr lang="en-GB" sz="1800" dirty="0"/>
                  <a:t>Magnitude = 9.8488578018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08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B5BB821-096B-5268-D454-A446C5F10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3608" y="3205400"/>
            <a:ext cx="1183483" cy="102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4594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sz="2200" dirty="0"/>
                  <a:t>Points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have coordinates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(−1, 1, 4)</m:t>
                    </m: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(8, 0, 2)</m:t>
                    </m:r>
                  </m:oMath>
                </a14:m>
                <a:r>
                  <a:rPr lang="en-GB" sz="2200" dirty="0"/>
                  <a:t> 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(5,−2, 11)</m:t>
                    </m:r>
                  </m:oMath>
                </a14:m>
                <a:r>
                  <a:rPr lang="en-GB" sz="2200" dirty="0"/>
                  <a:t> respectively.</a:t>
                </a:r>
              </a:p>
              <a:p>
                <a:endParaRPr lang="en-GB" sz="2200" dirty="0"/>
              </a:p>
              <a:p>
                <a:pPr lvl="1"/>
                <a:r>
                  <a:rPr lang="en-GB" sz="1800" dirty="0"/>
                  <a:t>a) Find the position vectors of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sz="1800" dirty="0"/>
                  <a:t>,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GB" sz="1800" i="1" dirty="0"/>
                  <a:t> </a:t>
                </a:r>
                <a:r>
                  <a:rPr lang="en-GB" sz="1800" dirty="0"/>
                  <a:t>and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1800" dirty="0"/>
                  <a:t>.</a:t>
                </a:r>
              </a:p>
              <a:p>
                <a:pPr marL="457200" lvl="1" indent="0">
                  <a:buNone/>
                </a:pPr>
                <a:r>
                  <a:rPr lang="en-GB" sz="1800" dirty="0"/>
                  <a:t>A = -1i + 1j + 4k    b = 8i + 0j + 2k      c = 5i -2j + 11k</a:t>
                </a:r>
              </a:p>
              <a:p>
                <a:pPr lvl="1"/>
                <a:r>
                  <a:rPr lang="en-GB" sz="1800" dirty="0"/>
                  <a:t>b) Find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</m:oMath>
                </a14:m>
                <a:r>
                  <a:rPr lang="en-GB" sz="1800" dirty="0"/>
                  <a:t>and</a:t>
                </a:r>
                <a:r>
                  <a:rPr lang="en-GB" sz="18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acc>
                  </m:oMath>
                </a14:m>
                <a:r>
                  <a:rPr lang="en-GB" sz="1800" dirty="0"/>
                  <a:t>.   (8i + 0j + 2k) – (-1i + 1j + 4k) = 9i + -1j - 2k</a:t>
                </a:r>
              </a:p>
              <a:p>
                <a:pPr marL="457200" lvl="1" indent="0">
                  <a:buNone/>
                </a:pPr>
                <a:r>
                  <a:rPr lang="en-GB" sz="1800" dirty="0"/>
                  <a:t>			(5i – 2j + 11k) – (8i + 0j + 2k) = -3i - 2j + 9k</a:t>
                </a:r>
              </a:p>
              <a:p>
                <a:pPr lvl="1"/>
                <a:r>
                  <a:rPr lang="en-GB" sz="1800" dirty="0"/>
                  <a:t>c) Find </a:t>
                </a:r>
                <a14:m>
                  <m:oMath xmlns:m="http://schemas.openxmlformats.org/officeDocument/2006/math"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acc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1800" dirty="0"/>
                  <a:t>and </a:t>
                </a:r>
                <a14:m>
                  <m:oMath xmlns:m="http://schemas.openxmlformats.org/officeDocument/2006/math"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acc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GB" sz="1800" dirty="0"/>
                  <a:t>.</a:t>
                </a:r>
              </a:p>
              <a:p>
                <a:pPr lvl="1"/>
                <a:endParaRPr lang="en-GB" sz="1800" dirty="0"/>
              </a:p>
              <a:p>
                <a:pPr lvl="1"/>
                <a:r>
                  <a:rPr lang="en-GB" sz="1800" dirty="0"/>
                  <a:t>AB = 9.2736184955</a:t>
                </a:r>
              </a:p>
              <a:p>
                <a:pPr lvl="1"/>
                <a:r>
                  <a:rPr lang="en-GB" sz="1800" dirty="0"/>
                  <a:t>BC = 9.69535971483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16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848417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GB" sz="2200" dirty="0"/>
                  <a:t>State the position vector of the point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(4,−4, 3)</m:t>
                    </m:r>
                  </m:oMath>
                </a14:m>
                <a:r>
                  <a:rPr lang="en-GB" sz="2200" dirty="0"/>
                  <a:t>.</a:t>
                </a:r>
              </a:p>
              <a:p>
                <a:r>
                  <a:rPr lang="en-GB" sz="2200" dirty="0"/>
                  <a:t>4i -4j + 3k</a:t>
                </a:r>
              </a:p>
              <a:p>
                <a:r>
                  <a:rPr lang="en-GB" sz="2200" dirty="0"/>
                  <a:t>Find the modulus of each of the following vectors.</a:t>
                </a:r>
              </a:p>
              <a:p>
                <a:pPr lvl="1"/>
                <a:r>
                  <a:rPr lang="en-GB" sz="1800" dirty="0"/>
                  <a:t>a)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1800" dirty="0"/>
                  <a:t>, = </a:t>
                </a:r>
                <a:r>
                  <a:rPr lang="en-GB" dirty="0"/>
                  <a:t>7.87</a:t>
                </a:r>
                <a:endParaRPr lang="en-GB" sz="1800" dirty="0"/>
              </a:p>
              <a:p>
                <a:pPr lvl="1"/>
                <a:r>
                  <a:rPr lang="en-GB" sz="1800" dirty="0"/>
                  <a:t>b) </a:t>
                </a:r>
                <a14:m>
                  <m:oMath xmlns:m="http://schemas.openxmlformats.org/officeDocument/2006/math">
                    <m:r>
                      <a:rPr lang="en-GB" sz="1800" i="1" dirty="0">
                        <a:latin typeface="Cambria Math" panose="02040503050406030204" pitchFamily="18" charset="0"/>
                      </a:rPr>
                      <m:t>7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1800" dirty="0"/>
                  <a:t>, = </a:t>
                </a:r>
                <a:r>
                  <a:rPr lang="en-GB" dirty="0"/>
                  <a:t>7.87</a:t>
                </a:r>
                <a:endParaRPr lang="en-GB" sz="1800" dirty="0"/>
              </a:p>
              <a:p>
                <a:pPr lvl="1"/>
                <a:r>
                  <a:rPr lang="en-GB" sz="1800" dirty="0"/>
                  <a:t>c) </a:t>
                </a:r>
                <a14:m>
                  <m:oMath xmlns:m="http://schemas.openxmlformats.org/officeDocument/2006/math">
                    <m:r>
                      <a:rPr lang="en-GB" sz="1800" i="1" dirty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8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1800" dirty="0"/>
                  <a:t>, = </a:t>
                </a:r>
                <a:r>
                  <a:rPr lang="en-GB" dirty="0"/>
                  <a:t>8.25</a:t>
                </a:r>
                <a:endParaRPr lang="en-GB" sz="1800" dirty="0"/>
              </a:p>
              <a:p>
                <a:pPr lvl="1"/>
                <a:r>
                  <a:rPr lang="en-GB" sz="1800" dirty="0"/>
                  <a:t>d) </a:t>
                </a:r>
                <a14:m>
                  <m:oMath xmlns:m="http://schemas.openxmlformats.org/officeDocument/2006/math">
                    <m:r>
                      <a:rPr lang="en-GB" sz="1800" b="0" i="0" dirty="0" smtClean="0">
                        <a:latin typeface="Cambria Math" panose="02040503050406030204" pitchFamily="18" charset="0"/>
                      </a:rPr>
                      <m:t>−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i="1" dirty="0">
                        <a:latin typeface="Cambria Math" panose="02040503050406030204" pitchFamily="18" charset="0"/>
                      </a:rPr>
                      <m:t>3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1800" dirty="0"/>
                  <a:t>, = </a:t>
                </a:r>
                <a:r>
                  <a:rPr lang="en-GB" dirty="0"/>
                  <a:t>3.74</a:t>
                </a:r>
                <a:endParaRPr lang="en-GB" sz="1800" dirty="0"/>
              </a:p>
              <a:p>
                <a:pPr lvl="1"/>
                <a:r>
                  <a:rPr lang="en-GB" sz="1800" dirty="0"/>
                  <a:t>e) </a:t>
                </a:r>
                <a14:m>
                  <m:oMath xmlns:m="http://schemas.openxmlformats.org/officeDocument/2006/math"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𝑎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bar>
                    <m:r>
                      <a:rPr lang="en-GB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𝑏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bar>
                    <m:r>
                      <a:rPr lang="en-GB" sz="1800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800" b="0" i="1" dirty="0" smtClean="0">
                        <a:latin typeface="Cambria Math" panose="02040503050406030204" pitchFamily="18" charset="0"/>
                      </a:rPr>
                      <m:t>𝑐</m:t>
                    </m:r>
                    <m:bar>
                      <m:barPr>
                        <m:ctrlPr>
                          <a:rPr lang="en-GB" sz="1800" i="1" dirty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bar>
                  </m:oMath>
                </a14:m>
                <a:r>
                  <a:rPr lang="en-GB" sz="1800" dirty="0"/>
                  <a:t>, = sqrt(a^2 + b^2 + c^2)</a:t>
                </a:r>
              </a:p>
              <a:p>
                <a:r>
                  <a:rPr lang="en-GB" sz="2200" dirty="0"/>
                  <a:t>Points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2200" i="1" dirty="0"/>
                  <a:t> </a:t>
                </a:r>
                <a:r>
                  <a:rPr lang="en-GB" sz="2200" dirty="0"/>
                  <a:t>have coordinates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(9,1,0)</m:t>
                    </m:r>
                  </m:oMath>
                </a14:m>
                <a:r>
                  <a:rPr lang="en-GB" sz="2200" dirty="0"/>
                  <a:t>,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(8,−3,5)</m:t>
                    </m:r>
                  </m:oMath>
                </a14:m>
                <a:r>
                  <a:rPr lang="en-GB" sz="2200" dirty="0"/>
                  <a:t>, and </a:t>
                </a:r>
                <a14:m>
                  <m:oMath xmlns:m="http://schemas.openxmlformats.org/officeDocument/2006/math">
                    <m:r>
                      <a:rPr lang="en-GB" sz="2200" i="1" dirty="0" smtClean="0">
                        <a:latin typeface="Cambria Math" panose="02040503050406030204" pitchFamily="18" charset="0"/>
                      </a:rPr>
                      <m:t>(5,5,7)</m:t>
                    </m:r>
                  </m:oMath>
                </a14:m>
                <a:r>
                  <a:rPr lang="en-GB" sz="2200" dirty="0"/>
                  <a:t> respectively.</a:t>
                </a:r>
              </a:p>
              <a:p>
                <a:pPr lvl="1"/>
                <a:r>
                  <a:rPr lang="en-GB" sz="1800" dirty="0"/>
                  <a:t>a) Find the position vectors of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GB" sz="1800" dirty="0"/>
                  <a:t>,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GB" sz="1800" i="1" dirty="0"/>
                  <a:t> </a:t>
                </a:r>
                <a:r>
                  <a:rPr lang="en-GB" sz="1800" dirty="0"/>
                  <a:t>and </a:t>
                </a: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1800" dirty="0"/>
                  <a:t>. 9i + 1j + 0k    8i -3j + 5k      5i + 5j + 7k</a:t>
                </a:r>
              </a:p>
              <a:p>
                <a:pPr lvl="1"/>
                <a:r>
                  <a:rPr lang="en-GB" sz="1800" dirty="0"/>
                  <a:t>b) Find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𝑃𝑄</m:t>
                        </m:r>
                      </m:e>
                    </m:acc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800" dirty="0"/>
                  <a:t>= (8i – 3j + 5k) – (9i + 1j + 0k) = -1i – 4j + 5k</a:t>
                </a:r>
              </a:p>
              <a:p>
                <a:pPr lvl="1"/>
                <a:r>
                  <a:rPr lang="en-GB" sz="1800" dirty="0"/>
                  <a:t>and</a:t>
                </a:r>
                <a:r>
                  <a:rPr lang="en-GB" sz="1800" i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𝑄𝑅</m:t>
                        </m:r>
                      </m:e>
                    </m:acc>
                  </m:oMath>
                </a14:m>
                <a:r>
                  <a:rPr lang="en-GB" sz="1800" i="1" dirty="0"/>
                  <a:t>     = (5i + 5j + 7k) – (8i – 3j + 5k) = -3i + 8j + 2k</a:t>
                </a:r>
              </a:p>
              <a:p>
                <a:pPr lvl="1"/>
                <a:r>
                  <a:rPr lang="en-GB" sz="1800" dirty="0"/>
                  <a:t>c) Find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𝑃𝑄</m:t>
                            </m:r>
                          </m:e>
                        </m:acc>
                      </m:e>
                    </m:d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1800" dirty="0"/>
                  <a:t> = </a:t>
                </a:r>
                <a:r>
                  <a:rPr lang="en-GB" dirty="0"/>
                  <a:t>6.48</a:t>
                </a:r>
                <a:endParaRPr lang="en-GB" sz="1800" dirty="0"/>
              </a:p>
              <a:p>
                <a:pPr lvl="1"/>
                <a:r>
                  <a:rPr lang="en-GB" sz="1800" dirty="0"/>
                  <a:t>|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𝑄𝑅</m:t>
                        </m:r>
                      </m:e>
                    </m:acc>
                  </m:oMath>
                </a14:m>
                <a:r>
                  <a:rPr lang="en-GB" sz="1800" dirty="0"/>
                  <a:t>| = </a:t>
                </a:r>
                <a:r>
                  <a:rPr lang="en-GB" dirty="0"/>
                  <a:t>8.77</a:t>
                </a:r>
                <a:endParaRPr lang="en-GB" sz="1800" dirty="0"/>
              </a:p>
              <a:p>
                <a:pPr lvl="1"/>
                <a:r>
                  <a:rPr lang="en-GB" sz="18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𝑃𝑄𝑅</m:t>
                        </m:r>
                      </m:e>
                    </m:acc>
                  </m:oMath>
                </a14:m>
                <a:r>
                  <a:rPr lang="en-GB" sz="1800" dirty="0"/>
                  <a:t>. (5i + 5j + 7k) – (-1i – 4j + 5k) = 6i + 9j + 2k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1" t="-2364" b="-111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60454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30CF-78FE-4F64-A9CC-ACA657029335}"/>
              </a:ext>
            </a:extLst>
          </p:cNvPr>
          <p:cNvSpPr txBox="1">
            <a:spLocks/>
          </p:cNvSpPr>
          <p:nvPr/>
        </p:nvSpPr>
        <p:spPr>
          <a:xfrm>
            <a:off x="297611" y="41499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Artificial Intelligence for Games</a:t>
            </a:r>
          </a:p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CMP6206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6C296EC-A841-49AB-AC7B-4A212B399FB7}"/>
              </a:ext>
            </a:extLst>
          </p:cNvPr>
          <p:cNvSpPr txBox="1">
            <a:spLocks/>
          </p:cNvSpPr>
          <p:nvPr/>
        </p:nvSpPr>
        <p:spPr>
          <a:xfrm>
            <a:off x="297611" y="3983457"/>
            <a:ext cx="8492705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>
                <a:latin typeface="DIN Condensed" panose="020B0606040000020204" pitchFamily="34" charset="0"/>
                <a:ea typeface="DIN Condensed" panose="020B0606040000020204" pitchFamily="34" charset="0"/>
              </a:rPr>
              <a:t>Questions?</a:t>
            </a:r>
          </a:p>
          <a:p>
            <a:pPr algn="ctr"/>
            <a:r>
              <a:rPr lang="en-US" b="1" dirty="0" err="1">
                <a:latin typeface="DIN Condensed" panose="020B0606040000020204" pitchFamily="34" charset="0"/>
                <a:ea typeface="DIN Condensed" panose="020B0606040000020204" pitchFamily="34" charset="0"/>
              </a:rPr>
              <a:t>Maths</a:t>
            </a:r>
            <a:r>
              <a:rPr lang="en-US" b="1" dirty="0">
                <a:latin typeface="DIN Condensed" panose="020B0606040000020204" pitchFamily="34" charset="0"/>
                <a:ea typeface="DIN Condensed" panose="020B0606040000020204" pitchFamily="34" charset="0"/>
              </a:rPr>
              <a:t> for AI: Vectors</a:t>
            </a:r>
          </a:p>
        </p:txBody>
      </p:sp>
    </p:spTree>
    <p:extLst>
      <p:ext uri="{BB962C8B-B14F-4D97-AF65-F5344CB8AC3E}">
        <p14:creationId xmlns:p14="http://schemas.microsoft.com/office/powerpoint/2010/main" val="273996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946</TotalTime>
  <Words>3023</Words>
  <Application>Microsoft Office PowerPoint</Application>
  <PresentationFormat>On-screen Show (4:3)</PresentationFormat>
  <Paragraphs>310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Cambria Math</vt:lpstr>
      <vt:lpstr>DIN Condensed</vt:lpstr>
      <vt:lpstr>Office Theme</vt:lpstr>
      <vt:lpstr>PowerPoint Presentation</vt:lpstr>
      <vt:lpstr>Overview</vt:lpstr>
      <vt:lpstr>What is a Vector?</vt:lpstr>
      <vt:lpstr>Scalar vs. Vector</vt:lpstr>
      <vt:lpstr>Common Quantities</vt:lpstr>
      <vt:lpstr>Common Quantities</vt:lpstr>
      <vt:lpstr>Visualising Vectors</vt:lpstr>
      <vt:lpstr>Vector Notation</vt:lpstr>
      <vt:lpstr>Vector Notation</vt:lpstr>
      <vt:lpstr>Vector Notation</vt:lpstr>
      <vt:lpstr>Exercise: Vector Notation</vt:lpstr>
      <vt:lpstr>Vector Addition</vt:lpstr>
      <vt:lpstr>Vector Addition</vt:lpstr>
      <vt:lpstr>Triangle Law</vt:lpstr>
      <vt:lpstr>Exercise: Triangle Law</vt:lpstr>
      <vt:lpstr>Vector Laws</vt:lpstr>
      <vt:lpstr>Vector Subtraction</vt:lpstr>
      <vt:lpstr>Exercise: Vector Manipulation</vt:lpstr>
      <vt:lpstr>Vector Scalar Multiplication</vt:lpstr>
      <vt:lpstr>Vector Scalar Multiplication</vt:lpstr>
      <vt:lpstr>Exercise</vt:lpstr>
      <vt:lpstr>Unit Vectors</vt:lpstr>
      <vt:lpstr>Cartesian Components</vt:lpstr>
      <vt:lpstr>Coordinates</vt:lpstr>
      <vt:lpstr>Unit Vector Conventions</vt:lpstr>
      <vt:lpstr>Unit Vector Conventions</vt:lpstr>
      <vt:lpstr>Unit Vectors: Key Points</vt:lpstr>
      <vt:lpstr>Unit Vectors: Key Points</vt:lpstr>
      <vt:lpstr>Exercises</vt:lpstr>
      <vt:lpstr>Position Vector</vt:lpstr>
      <vt:lpstr>Exercise: Position Vector</vt:lpstr>
      <vt:lpstr>Exercise: Position Vector</vt:lpstr>
      <vt:lpstr>Modulus of a Vector</vt:lpstr>
      <vt:lpstr>Exercise: Modulus</vt:lpstr>
      <vt:lpstr>3D Coordinate Frames</vt:lpstr>
      <vt:lpstr>3D Coordinate Frames</vt:lpstr>
      <vt:lpstr>Exercises</vt:lpstr>
      <vt:lpstr>Exercises</vt:lpstr>
      <vt:lpstr>Exercises</vt:lpstr>
      <vt:lpstr>Exercises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Kathryn Warder</dc:creator>
  <cp:lastModifiedBy>James Bland</cp:lastModifiedBy>
  <cp:revision>98</cp:revision>
  <dcterms:created xsi:type="dcterms:W3CDTF">2014-08-06T14:23:10Z</dcterms:created>
  <dcterms:modified xsi:type="dcterms:W3CDTF">2024-09-30T23:07:23Z</dcterms:modified>
</cp:coreProperties>
</file>